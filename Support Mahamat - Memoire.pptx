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1" r:id="rId4"/>
    <p:sldId id="258" r:id="rId5"/>
    <p:sldId id="272" r:id="rId6"/>
    <p:sldId id="284" r:id="rId7"/>
    <p:sldId id="259" r:id="rId8"/>
    <p:sldId id="260" r:id="rId9"/>
    <p:sldId id="274" r:id="rId10"/>
    <p:sldId id="275" r:id="rId11"/>
    <p:sldId id="261" r:id="rId12"/>
    <p:sldId id="276" r:id="rId13"/>
    <p:sldId id="277" r:id="rId14"/>
    <p:sldId id="278" r:id="rId15"/>
    <p:sldId id="262" r:id="rId16"/>
    <p:sldId id="263" r:id="rId17"/>
    <p:sldId id="264" r:id="rId18"/>
    <p:sldId id="265" r:id="rId19"/>
    <p:sldId id="280" r:id="rId20"/>
    <p:sldId id="281" r:id="rId21"/>
    <p:sldId id="266" r:id="rId22"/>
    <p:sldId id="282" r:id="rId23"/>
    <p:sldId id="283" r:id="rId24"/>
    <p:sldId id="267" r:id="rId25"/>
    <p:sldId id="268" r:id="rId26"/>
    <p:sldId id="269" r:id="rId27"/>
    <p:sldId id="286" r:id="rId28"/>
    <p:sldId id="273" r:id="rId29"/>
    <p:sldId id="270" r:id="rId3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7"/>
    <p:restoredTop sz="94554"/>
  </p:normalViewPr>
  <p:slideViewPr>
    <p:cSldViewPr snapToGrid="0" snapToObjects="1">
      <p:cViewPr varScale="1">
        <p:scale>
          <a:sx n="42" d="100"/>
          <a:sy n="42" d="100"/>
        </p:scale>
        <p:origin x="184" y="1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5CFFD-7A3B-8F44-AAAC-392B94A3DBD8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FA880-AA21-C949-88E9-4B437A8819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62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FA880-AA21-C949-88E9-4B437A88193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5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FA880-AA21-C949-88E9-4B437A88193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3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FA880-AA21-C949-88E9-4B437A88193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732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FA880-AA21-C949-88E9-4B437A88193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933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 err="1">
                <a:solidFill>
                  <a:srgbClr val="00468C"/>
                </a:solidFill>
              </a:rPr>
              <a:t>Modélisation</a:t>
            </a:r>
            <a:r>
              <a:rPr sz="3400" b="1" i="0" dirty="0">
                <a:solidFill>
                  <a:srgbClr val="00468C"/>
                </a:solidFill>
              </a:rPr>
              <a:t> des </a:t>
            </a:r>
            <a:r>
              <a:rPr sz="3400" b="1" i="0" dirty="0" err="1">
                <a:solidFill>
                  <a:srgbClr val="00468C"/>
                </a:solidFill>
              </a:rPr>
              <a:t>comportements</a:t>
            </a:r>
            <a:r>
              <a:rPr sz="3400" b="1" i="0" dirty="0">
                <a:solidFill>
                  <a:srgbClr val="00468C"/>
                </a:solidFill>
              </a:rPr>
              <a:t> de santé
par </a:t>
            </a:r>
            <a:r>
              <a:rPr sz="3400" b="1" i="0" dirty="0" err="1">
                <a:solidFill>
                  <a:srgbClr val="00468C"/>
                </a:solidFill>
              </a:rPr>
              <a:t>apprentissage</a:t>
            </a:r>
            <a:r>
              <a:rPr sz="3400" b="1" i="0" dirty="0">
                <a:solidFill>
                  <a:srgbClr val="00468C"/>
                </a:solidFill>
              </a:rPr>
              <a:t> </a:t>
            </a:r>
            <a:r>
              <a:rPr sz="3400" b="1" i="0" dirty="0" err="1">
                <a:solidFill>
                  <a:srgbClr val="00468C"/>
                </a:solidFill>
              </a:rPr>
              <a:t>automatique</a:t>
            </a:r>
            <a:endParaRPr sz="3400" b="1" i="0" dirty="0">
              <a:solidFill>
                <a:srgbClr val="00468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456432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66CC"/>
                </a:solidFill>
              </a:rPr>
              <a:t>Régression, classification et clustering sur données synthétiques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725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i="0" dirty="0">
                <a:solidFill>
                  <a:srgbClr val="000000"/>
                </a:solidFill>
              </a:rPr>
              <a:t>ARDACHAM</a:t>
            </a:r>
            <a:r>
              <a:rPr sz="1600" b="1" i="0" dirty="0">
                <a:solidFill>
                  <a:srgbClr val="000000"/>
                </a:solidFill>
              </a:rPr>
              <a:t> Mahamat Teguene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93792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</a:rPr>
              <a:t>Master 1 MIASHS  —  Université de Montpellier Paul Valéry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 err="1">
                <a:solidFill>
                  <a:srgbClr val="787878"/>
                </a:solidFill>
              </a:rPr>
              <a:t>Tuteurs</a:t>
            </a:r>
            <a:r>
              <a:rPr sz="1300" b="0" i="0" dirty="0">
                <a:solidFill>
                  <a:srgbClr val="787878"/>
                </a:solidFill>
              </a:rPr>
              <a:t> : Sophie </a:t>
            </a:r>
            <a:r>
              <a:rPr sz="1300" b="0" i="0" dirty="0" err="1">
                <a:solidFill>
                  <a:srgbClr val="787878"/>
                </a:solidFill>
              </a:rPr>
              <a:t>Lèbre</a:t>
            </a:r>
            <a:r>
              <a:rPr sz="1300" b="0" i="0" dirty="0">
                <a:solidFill>
                  <a:srgbClr val="787878"/>
                </a:solidFill>
              </a:rPr>
              <a:t> &amp; Jérôme Pasquet  —  Juin 2026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5C94B8B-AC04-EB41-3A2B-86BABC43E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185" y="120516"/>
            <a:ext cx="2548687" cy="16989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BB1C92A-E6EF-2E53-7DCA-9424B432F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0402"/>
            <a:ext cx="2358652" cy="14392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40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468C"/>
                </a:solidFill>
              </a:rPr>
              <a:t>Plan de la </a:t>
            </a:r>
            <a:r>
              <a:rPr sz="2400" b="1" i="0" dirty="0" err="1">
                <a:solidFill>
                  <a:srgbClr val="00468C"/>
                </a:solidFill>
              </a:rPr>
              <a:t>présentation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26008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924691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700" b="0" i="0" dirty="0">
                <a:solidFill>
                  <a:srgbClr val="000000"/>
                </a:solidFill>
              </a:rPr>
              <a:t>Introduction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1902158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000000"/>
                </a:solidFill>
              </a:rPr>
              <a:t>Jeu de données</a:t>
            </a:r>
            <a:r>
              <a:rPr lang="fr-FR" sz="1700" b="0" i="0" dirty="0">
                <a:solidFill>
                  <a:srgbClr val="000000"/>
                </a:solidFill>
              </a:rPr>
              <a:t> et Pipeline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449522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700" dirty="0">
                <a:solidFill>
                  <a:srgbClr val="000000"/>
                </a:solidFill>
              </a:rPr>
              <a:t>Etat de l’art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035177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000000"/>
                </a:solidFill>
              </a:rPr>
              <a:t>Régression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4538603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000000"/>
                </a:solidFill>
              </a:rPr>
              <a:t>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42029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000000"/>
                </a:solidFill>
              </a:rPr>
              <a:t>Clustering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124342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700" b="0" i="0" dirty="0">
                <a:solidFill>
                  <a:srgbClr val="000000"/>
                </a:solidFill>
              </a:rPr>
              <a:t>Conclusion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2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2A45BBD3-45AE-C164-6008-FA5432C50679}"/>
              </a:ext>
            </a:extLst>
          </p:cNvPr>
          <p:cNvSpPr txBox="1"/>
          <p:nvPr/>
        </p:nvSpPr>
        <p:spPr>
          <a:xfrm>
            <a:off x="868680" y="1415541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700" dirty="0">
                <a:solidFill>
                  <a:srgbClr val="000000"/>
                </a:solidFill>
              </a:rPr>
              <a:t>P</a:t>
            </a:r>
            <a:r>
              <a:rPr sz="1700" b="0" i="0" dirty="0" err="1">
                <a:solidFill>
                  <a:srgbClr val="000000"/>
                </a:solidFill>
              </a:rPr>
              <a:t>roblématique</a:t>
            </a:r>
            <a:r>
              <a:rPr lang="fr-FR" sz="1700" b="0" i="0" dirty="0">
                <a:solidFill>
                  <a:srgbClr val="000000"/>
                </a:solidFill>
              </a:rPr>
              <a:t> et contextes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96E68D-4907-E723-A8A7-3E92635CC73A}"/>
              </a:ext>
            </a:extLst>
          </p:cNvPr>
          <p:cNvSpPr/>
          <p:nvPr/>
        </p:nvSpPr>
        <p:spPr>
          <a:xfrm>
            <a:off x="320040" y="1412463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394C71-7038-3774-8537-80C0F79B1ABD}"/>
              </a:ext>
            </a:extLst>
          </p:cNvPr>
          <p:cNvSpPr/>
          <p:nvPr/>
        </p:nvSpPr>
        <p:spPr>
          <a:xfrm>
            <a:off x="320040" y="1902158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B83FCD-D936-9A44-EA2A-A7CBBDECDBE6}"/>
              </a:ext>
            </a:extLst>
          </p:cNvPr>
          <p:cNvSpPr/>
          <p:nvPr/>
        </p:nvSpPr>
        <p:spPr>
          <a:xfrm>
            <a:off x="320040" y="2443267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D1AE51-4FB3-BCE4-BFDC-AC99C50FC26A}"/>
              </a:ext>
            </a:extLst>
          </p:cNvPr>
          <p:cNvSpPr/>
          <p:nvPr/>
        </p:nvSpPr>
        <p:spPr>
          <a:xfrm>
            <a:off x="320040" y="2980090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B1E08C-7C9F-0A71-7051-FBDD613AEEBF}"/>
              </a:ext>
            </a:extLst>
          </p:cNvPr>
          <p:cNvSpPr/>
          <p:nvPr/>
        </p:nvSpPr>
        <p:spPr>
          <a:xfrm>
            <a:off x="321465" y="3525921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802CE6-AFF6-E059-E29E-098B8EE887F8}"/>
              </a:ext>
            </a:extLst>
          </p:cNvPr>
          <p:cNvSpPr/>
          <p:nvPr/>
        </p:nvSpPr>
        <p:spPr>
          <a:xfrm>
            <a:off x="320040" y="4035177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D2E55692-707A-2D0B-71AD-CF07F9E5B16E}"/>
              </a:ext>
            </a:extLst>
          </p:cNvPr>
          <p:cNvSpPr txBox="1"/>
          <p:nvPr/>
        </p:nvSpPr>
        <p:spPr>
          <a:xfrm>
            <a:off x="868680" y="2978991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000000"/>
                </a:solidFill>
              </a:rPr>
              <a:t>Analyse</a:t>
            </a:r>
            <a:r>
              <a:rPr sz="1700" b="0" i="0" dirty="0">
                <a:solidFill>
                  <a:srgbClr val="000000"/>
                </a:solidFill>
              </a:rPr>
              <a:t> </a:t>
            </a:r>
            <a:r>
              <a:rPr sz="1700" b="0" i="0" dirty="0" err="1">
                <a:solidFill>
                  <a:srgbClr val="000000"/>
                </a:solidFill>
              </a:rPr>
              <a:t>exploratoire</a:t>
            </a:r>
            <a:r>
              <a:rPr sz="1700" b="0" i="0" dirty="0">
                <a:solidFill>
                  <a:srgbClr val="000000"/>
                </a:solidFill>
              </a:rPr>
              <a:t> </a:t>
            </a:r>
            <a:r>
              <a:rPr lang="fr-FR" sz="1700" b="0" i="0" dirty="0">
                <a:solidFill>
                  <a:srgbClr val="000000"/>
                </a:solidFill>
              </a:rPr>
              <a:t>des données </a:t>
            </a:r>
            <a:r>
              <a:rPr sz="1700" b="0" i="0" dirty="0">
                <a:solidFill>
                  <a:srgbClr val="000000"/>
                </a:solidFill>
              </a:rPr>
              <a:t>(EDA)</a:t>
            </a: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3EC447DA-F69F-DB43-B97B-5F2E40460C2D}"/>
              </a:ext>
            </a:extLst>
          </p:cNvPr>
          <p:cNvSpPr txBox="1"/>
          <p:nvPr/>
        </p:nvSpPr>
        <p:spPr>
          <a:xfrm>
            <a:off x="868680" y="3524963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0" i="0" dirty="0" err="1">
                <a:solidFill>
                  <a:srgbClr val="000000"/>
                </a:solidFill>
              </a:rPr>
              <a:t>Feature</a:t>
            </a:r>
            <a:r>
              <a:rPr lang="fr-FR" sz="1700" b="0" i="0" dirty="0">
                <a:solidFill>
                  <a:srgbClr val="000000"/>
                </a:solidFill>
              </a:rPr>
              <a:t> Engineering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08713C-8FD0-D3C2-99E6-04C03395251A}"/>
              </a:ext>
            </a:extLst>
          </p:cNvPr>
          <p:cNvSpPr/>
          <p:nvPr/>
        </p:nvSpPr>
        <p:spPr>
          <a:xfrm>
            <a:off x="320040" y="4538603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100349-325D-12D3-F8D1-1C83DA433AB5}"/>
              </a:ext>
            </a:extLst>
          </p:cNvPr>
          <p:cNvSpPr/>
          <p:nvPr/>
        </p:nvSpPr>
        <p:spPr>
          <a:xfrm>
            <a:off x="320040" y="5042029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EFD7D2BC-17DF-4FBF-8B78-477380EA1496}"/>
              </a:ext>
            </a:extLst>
          </p:cNvPr>
          <p:cNvSpPr txBox="1"/>
          <p:nvPr/>
        </p:nvSpPr>
        <p:spPr>
          <a:xfrm>
            <a:off x="868680" y="5579366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0" i="0" dirty="0">
                <a:solidFill>
                  <a:srgbClr val="000000"/>
                </a:solidFill>
              </a:rPr>
              <a:t>Interprétabilité — 5 méthodes comparées </a:t>
            </a:r>
            <a:endParaRPr sz="1700" b="0" i="0" dirty="0">
              <a:solidFill>
                <a:srgbClr val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3B54F4-8DBA-E695-CF2C-E8CB29E21A11}"/>
              </a:ext>
            </a:extLst>
          </p:cNvPr>
          <p:cNvSpPr/>
          <p:nvPr/>
        </p:nvSpPr>
        <p:spPr>
          <a:xfrm>
            <a:off x="320040" y="5580003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4923B9-A6A5-CB28-2BB6-470746DB8100}"/>
              </a:ext>
            </a:extLst>
          </p:cNvPr>
          <p:cNvSpPr/>
          <p:nvPr/>
        </p:nvSpPr>
        <p:spPr>
          <a:xfrm>
            <a:off x="320040" y="6124342"/>
            <a:ext cx="384048" cy="335655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E4EDE8C-4835-424C-0024-CF91512926AE}"/>
              </a:ext>
            </a:extLst>
          </p:cNvPr>
          <p:cNvSpPr txBox="1"/>
          <p:nvPr/>
        </p:nvSpPr>
        <p:spPr>
          <a:xfrm>
            <a:off x="376755" y="5604502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C5C2795-3625-8468-0C32-1CB647860FB2}"/>
              </a:ext>
            </a:extLst>
          </p:cNvPr>
          <p:cNvSpPr txBox="1"/>
          <p:nvPr/>
        </p:nvSpPr>
        <p:spPr>
          <a:xfrm>
            <a:off x="399197" y="948809"/>
            <a:ext cx="223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00CEA4B-1F72-D333-E31F-29C333C73AE9}"/>
              </a:ext>
            </a:extLst>
          </p:cNvPr>
          <p:cNvSpPr txBox="1"/>
          <p:nvPr/>
        </p:nvSpPr>
        <p:spPr>
          <a:xfrm>
            <a:off x="379961" y="1434043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II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97B0641-2E1D-8745-4958-6DA7DB66665A}"/>
              </a:ext>
            </a:extLst>
          </p:cNvPr>
          <p:cNvSpPr txBox="1"/>
          <p:nvPr/>
        </p:nvSpPr>
        <p:spPr>
          <a:xfrm>
            <a:off x="376044" y="1931268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III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635CD84C-8AFD-5975-503A-AC046B43B1C9}"/>
              </a:ext>
            </a:extLst>
          </p:cNvPr>
          <p:cNvSpPr txBox="1"/>
          <p:nvPr/>
        </p:nvSpPr>
        <p:spPr>
          <a:xfrm>
            <a:off x="355737" y="246463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IV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9E79264-4E06-DCB8-4812-5A93E00B52F4}"/>
              </a:ext>
            </a:extLst>
          </p:cNvPr>
          <p:cNvSpPr txBox="1"/>
          <p:nvPr/>
        </p:nvSpPr>
        <p:spPr>
          <a:xfrm>
            <a:off x="379782" y="3011744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C94C26AF-102C-379C-9D3C-FEB4DFA1F956}"/>
              </a:ext>
            </a:extLst>
          </p:cNvPr>
          <p:cNvSpPr txBox="1"/>
          <p:nvPr/>
        </p:nvSpPr>
        <p:spPr>
          <a:xfrm>
            <a:off x="341310" y="356749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VI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2DF7BD1-D813-2820-2C44-EB1C210CF465}"/>
              </a:ext>
            </a:extLst>
          </p:cNvPr>
          <p:cNvSpPr txBox="1"/>
          <p:nvPr/>
        </p:nvSpPr>
        <p:spPr>
          <a:xfrm>
            <a:off x="331871" y="40767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VII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E287EED-ED2C-1F88-A6C8-A2AA5BC5C6AC}"/>
              </a:ext>
            </a:extLst>
          </p:cNvPr>
          <p:cNvSpPr txBox="1"/>
          <p:nvPr/>
        </p:nvSpPr>
        <p:spPr>
          <a:xfrm>
            <a:off x="317444" y="4550891"/>
            <a:ext cx="386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VIII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D09F799-B0E2-4E7A-3D36-2D0C2F918342}"/>
              </a:ext>
            </a:extLst>
          </p:cNvPr>
          <p:cNvSpPr txBox="1"/>
          <p:nvPr/>
        </p:nvSpPr>
        <p:spPr>
          <a:xfrm>
            <a:off x="365781" y="5071435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IX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65E0B8A-0821-A2F3-B042-5B2EA60A0833}"/>
              </a:ext>
            </a:extLst>
          </p:cNvPr>
          <p:cNvSpPr txBox="1"/>
          <p:nvPr/>
        </p:nvSpPr>
        <p:spPr>
          <a:xfrm>
            <a:off x="365013" y="614280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XI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9D09FD-FB1A-DE78-A8F9-30F2F141A64B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562FFC-0169-E2E9-A953-DF3729E81732}"/>
              </a:ext>
            </a:extLst>
          </p:cNvPr>
          <p:cNvSpPr/>
          <p:nvPr/>
        </p:nvSpPr>
        <p:spPr>
          <a:xfrm>
            <a:off x="0" y="43329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9B04278-0528-7C7B-D680-50770979DCC6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dirty="0">
                <a:solidFill>
                  <a:srgbClr val="00468C"/>
                </a:solidFill>
              </a:rPr>
              <a:t>I. Introduction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A006504-694F-179B-DDC3-061EF9180BE7}"/>
              </a:ext>
            </a:extLst>
          </p:cNvPr>
          <p:cNvSpPr txBox="1"/>
          <p:nvPr/>
        </p:nvSpPr>
        <p:spPr>
          <a:xfrm>
            <a:off x="319976" y="953264"/>
            <a:ext cx="11548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dirty="0">
                <a:solidFill>
                  <a:srgbClr val="000000"/>
                </a:solidFill>
              </a:rPr>
              <a:t>Aujourd’hui :</a:t>
            </a:r>
          </a:p>
          <a:p>
            <a:pPr algn="l"/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montres connectées mesurent notre sommeil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applications comptent nos pas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bilans sanguins enregistrent notre cholestérol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…</a:t>
            </a:r>
          </a:p>
          <a:p>
            <a:endParaRPr lang="fr-FR" dirty="0"/>
          </a:p>
          <a:p>
            <a:r>
              <a:rPr lang="fr-FR" dirty="0"/>
              <a:t>On génère sans le savoir </a:t>
            </a:r>
            <a:r>
              <a:rPr lang="fr-FR" b="1" dirty="0"/>
              <a:t>une quantité massive d’informations </a:t>
            </a:r>
            <a:r>
              <a:rPr lang="fr-FR" dirty="0"/>
              <a:t>sur nos habitudes de vie.</a:t>
            </a:r>
          </a:p>
          <a:p>
            <a:endParaRPr lang="fr-FR" dirty="0"/>
          </a:p>
          <a:p>
            <a:r>
              <a:rPr lang="fr-FR" dirty="0"/>
              <a:t>Mais avoir des données ne </a:t>
            </a:r>
            <a:r>
              <a:rPr lang="fr-FR" dirty="0" err="1"/>
              <a:t>suﬃt</a:t>
            </a:r>
            <a:r>
              <a:rPr lang="fr-FR" dirty="0"/>
              <a:t> pas : encore faut-il savoir les analyser, les comprendre, et en tirer des conclusions utiles.</a:t>
            </a:r>
          </a:p>
          <a:p>
            <a:endParaRPr lang="fr-FR" dirty="0"/>
          </a:p>
          <a:p>
            <a:r>
              <a:rPr lang="fr-FR" dirty="0"/>
              <a:t>C’est exactement ce que permet la data science, elle offre des outils pour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explorer des jeux de données complexes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construire des modèles prédictifs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expliquer ce qui se passe derrière les </a:t>
            </a:r>
            <a:r>
              <a:rPr lang="fr-FR" dirty="0" err="1"/>
              <a:t>chiﬀres</a:t>
            </a:r>
            <a:r>
              <a:rPr lang="fr-FR" dirty="0"/>
              <a:t>.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3625D47A-B930-2731-3199-91F1BA045B2C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1</a:t>
            </a:r>
            <a:endParaRPr sz="1000" b="0" i="0" dirty="0">
              <a:solidFill>
                <a:srgbClr val="8C8C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11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7419" y="950975"/>
            <a:ext cx="9773986" cy="135956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4558" y="950519"/>
            <a:ext cx="45719" cy="137345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1719" y="966783"/>
            <a:ext cx="95453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66CC"/>
                </a:solidFill>
              </a:rPr>
              <a:t>PROBLÉMATIQUE</a:t>
            </a:r>
            <a:endParaRPr sz="1200" b="1" i="0" dirty="0">
              <a:solidFill>
                <a:srgbClr val="0066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16112" y="1416422"/>
            <a:ext cx="8756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468C"/>
                </a:solidFill>
              </a:rPr>
              <a:t>Quels </a:t>
            </a:r>
            <a:r>
              <a:rPr sz="2000" b="1" i="0" dirty="0" err="1">
                <a:solidFill>
                  <a:srgbClr val="00468C"/>
                </a:solidFill>
              </a:rPr>
              <a:t>facteurs</a:t>
            </a:r>
            <a:r>
              <a:rPr sz="2000" b="1" i="0" dirty="0">
                <a:solidFill>
                  <a:srgbClr val="00468C"/>
                </a:solidFill>
              </a:rPr>
              <a:t> du mode de vie </a:t>
            </a:r>
            <a:r>
              <a:rPr sz="2000" b="1" i="0" dirty="0" err="1">
                <a:solidFill>
                  <a:srgbClr val="00468C"/>
                </a:solidFill>
              </a:rPr>
              <a:t>influencent</a:t>
            </a:r>
            <a:r>
              <a:rPr sz="2000" b="1" i="0" dirty="0">
                <a:solidFill>
                  <a:srgbClr val="00468C"/>
                </a:solidFill>
              </a:rPr>
              <a:t> le plus </a:t>
            </a:r>
            <a:r>
              <a:rPr sz="2000" b="1" i="0" dirty="0" err="1">
                <a:solidFill>
                  <a:srgbClr val="00468C"/>
                </a:solidFill>
              </a:rPr>
              <a:t>l'état</a:t>
            </a:r>
            <a:r>
              <a:rPr sz="2000" b="1" i="0" dirty="0">
                <a:solidFill>
                  <a:srgbClr val="00468C"/>
                </a:solidFill>
              </a:rPr>
              <a:t> de santé — et </a:t>
            </a:r>
            <a:r>
              <a:rPr sz="2000" b="1" i="0" dirty="0" err="1">
                <a:solidFill>
                  <a:srgbClr val="00468C"/>
                </a:solidFill>
              </a:rPr>
              <a:t>peut</a:t>
            </a:r>
            <a:r>
              <a:rPr sz="2000" b="1" i="0" dirty="0">
                <a:solidFill>
                  <a:srgbClr val="00468C"/>
                </a:solidFill>
              </a:rPr>
              <a:t>-on les identifier, les </a:t>
            </a:r>
            <a:r>
              <a:rPr sz="2000" b="1" i="0" dirty="0" err="1">
                <a:solidFill>
                  <a:srgbClr val="00468C"/>
                </a:solidFill>
              </a:rPr>
              <a:t>modéliser</a:t>
            </a:r>
            <a:r>
              <a:rPr sz="2000" b="1" i="0" dirty="0">
                <a:solidFill>
                  <a:srgbClr val="00468C"/>
                </a:solidFill>
              </a:rPr>
              <a:t> et les </a:t>
            </a:r>
            <a:r>
              <a:rPr sz="2000" b="1" i="0" dirty="0" err="1">
                <a:solidFill>
                  <a:srgbClr val="00468C"/>
                </a:solidFill>
              </a:rPr>
              <a:t>expliquer</a:t>
            </a:r>
            <a:r>
              <a:rPr sz="2000" b="1" i="0" dirty="0">
                <a:solidFill>
                  <a:srgbClr val="00468C"/>
                </a:solidFill>
              </a:rPr>
              <a:t> de manière </a:t>
            </a:r>
            <a:r>
              <a:rPr sz="2000" b="1" i="0" dirty="0" err="1">
                <a:solidFill>
                  <a:srgbClr val="00468C"/>
                </a:solidFill>
              </a:rPr>
              <a:t>rigoureuse</a:t>
            </a:r>
            <a:r>
              <a:rPr sz="2000" b="1" i="0" dirty="0">
                <a:solidFill>
                  <a:srgbClr val="00468C"/>
                </a:solidFill>
              </a:rPr>
              <a:t>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976" y="2561584"/>
            <a:ext cx="11548872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0468C"/>
                </a:solidFill>
              </a:rPr>
              <a:t>Contexte</a:t>
            </a:r>
            <a:r>
              <a:rPr sz="2000" b="1" dirty="0">
                <a:solidFill>
                  <a:srgbClr val="00468C"/>
                </a:solidFill>
              </a:rPr>
              <a:t> data science</a:t>
            </a:r>
            <a:endParaRPr lang="fr-FR" sz="2000" b="1" dirty="0">
              <a:solidFill>
                <a:srgbClr val="00468C"/>
              </a:solidFill>
            </a:endParaRPr>
          </a:p>
          <a:p>
            <a:pPr algn="l"/>
            <a:endParaRPr lang="fr-FR" b="1" dirty="0">
              <a:solidFill>
                <a:srgbClr val="00468C"/>
              </a:solidFill>
            </a:endParaRPr>
          </a:p>
          <a:p>
            <a:r>
              <a:rPr lang="fr-FR" dirty="0">
                <a:solidFill>
                  <a:srgbClr val="000000"/>
                </a:solidFill>
              </a:rPr>
              <a:t>La data science permet aujourd’hui d’aborder des problèmes variés : </a:t>
            </a:r>
          </a:p>
          <a:p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prédiction du risque de maladies chroniques,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segmentation de populations selon leurs profils de santé,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identification des facteurs de risque comportementaux,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…</a:t>
            </a:r>
          </a:p>
          <a:p>
            <a:endParaRPr lang="fr-FR" b="1" dirty="0">
              <a:solidFill>
                <a:srgbClr val="00468C"/>
              </a:solidFill>
            </a:endParaRPr>
          </a:p>
          <a:p>
            <a:r>
              <a:rPr lang="fr-FR" b="1" dirty="0">
                <a:solidFill>
                  <a:srgbClr val="00468C"/>
                </a:solidFill>
              </a:rPr>
              <a:t>Objectif : </a:t>
            </a:r>
            <a:r>
              <a:rPr lang="fr-FR" dirty="0">
                <a:solidFill>
                  <a:srgbClr val="000000"/>
                </a:solidFill>
              </a:rPr>
              <a:t>prédire une personne est à risque de maladie ET expliquer (interprétabilité) : </a:t>
            </a:r>
          </a:p>
          <a:p>
            <a:endParaRPr lang="fr-FR" dirty="0">
              <a:solidFill>
                <a:srgbClr val="000000"/>
              </a:solidFill>
            </a:endParaRPr>
          </a:p>
          <a:p>
            <a:r>
              <a:rPr lang="fr-FR" b="1" dirty="0">
                <a:solidFill>
                  <a:srgbClr val="000000"/>
                </a:solidFill>
              </a:rPr>
              <a:t>Est-ce à cause de son manque de sommeil ? De son cholestérol élevé ? De son inactivité physique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976" y="626364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05050"/>
                </a:solidFill>
              </a:rPr>
              <a:t>Variable </a:t>
            </a:r>
            <a:r>
              <a:rPr sz="1300" b="0" i="1" dirty="0" err="1">
                <a:solidFill>
                  <a:srgbClr val="505050"/>
                </a:solidFill>
              </a:rPr>
              <a:t>cible</a:t>
            </a:r>
            <a:r>
              <a:rPr sz="1300" b="0" i="1" dirty="0">
                <a:solidFill>
                  <a:srgbClr val="505050"/>
                </a:solidFill>
              </a:rPr>
              <a:t> </a:t>
            </a:r>
            <a:r>
              <a:rPr sz="1300" b="0" i="1" dirty="0" err="1">
                <a:solidFill>
                  <a:srgbClr val="505050"/>
                </a:solidFill>
              </a:rPr>
              <a:t>régression</a:t>
            </a:r>
            <a:r>
              <a:rPr sz="1300" b="0" i="1" dirty="0">
                <a:solidFill>
                  <a:srgbClr val="505050"/>
                </a:solidFill>
              </a:rPr>
              <a:t> : cholesterol (mg/dL)  |  Variable </a:t>
            </a:r>
            <a:r>
              <a:rPr sz="1300" b="0" i="1" dirty="0" err="1">
                <a:solidFill>
                  <a:srgbClr val="505050"/>
                </a:solidFill>
              </a:rPr>
              <a:t>cible</a:t>
            </a:r>
            <a:r>
              <a:rPr sz="1300" b="0" i="1" dirty="0">
                <a:solidFill>
                  <a:srgbClr val="505050"/>
                </a:solidFill>
              </a:rPr>
              <a:t> classification : </a:t>
            </a:r>
            <a:r>
              <a:rPr sz="1300" b="0" i="1" dirty="0" err="1">
                <a:solidFill>
                  <a:srgbClr val="505050"/>
                </a:solidFill>
              </a:rPr>
              <a:t>disease_risk</a:t>
            </a:r>
            <a:r>
              <a:rPr sz="1300" b="0" i="1" dirty="0">
                <a:solidFill>
                  <a:srgbClr val="505050"/>
                </a:solidFill>
              </a:rPr>
              <a:t> (0/1)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2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2870B393-CF1F-700E-E64D-6A1715CE843D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468C"/>
                </a:solidFill>
              </a:rPr>
              <a:t>II. P</a:t>
            </a:r>
            <a:r>
              <a:rPr sz="2400" b="1" i="0" dirty="0" err="1">
                <a:solidFill>
                  <a:srgbClr val="00468C"/>
                </a:solidFill>
              </a:rPr>
              <a:t>roblématique</a:t>
            </a:r>
            <a:r>
              <a:rPr lang="fr-FR" sz="2400" b="1" dirty="0">
                <a:solidFill>
                  <a:srgbClr val="00468C"/>
                </a:solidFill>
              </a:rPr>
              <a:t> et contextes – contexte data science </a:t>
            </a:r>
            <a:endParaRPr sz="2400" b="1" i="0" dirty="0">
              <a:solidFill>
                <a:srgbClr val="00468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>
            <a:extLst>
              <a:ext uri="{FF2B5EF4-FFF2-40B4-BE49-F238E27FC236}">
                <a16:creationId xmlns:a16="http://schemas.microsoft.com/office/drawing/2014/main" id="{2D628834-6926-046A-4F81-B07E438A6FE9}"/>
              </a:ext>
            </a:extLst>
          </p:cNvPr>
          <p:cNvSpPr txBox="1"/>
          <p:nvPr/>
        </p:nvSpPr>
        <p:spPr>
          <a:xfrm>
            <a:off x="319976" y="911319"/>
            <a:ext cx="1154887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0468C"/>
                </a:solidFill>
              </a:rPr>
              <a:t>Contexte métier</a:t>
            </a:r>
          </a:p>
          <a:p>
            <a:endParaRPr lang="fr-FR" b="1" dirty="0">
              <a:solidFill>
                <a:srgbClr val="00468C"/>
              </a:solidFill>
            </a:endParaRPr>
          </a:p>
          <a:p>
            <a:r>
              <a:rPr lang="fr-FR" dirty="0"/>
              <a:t>Les maladies chroniques — maladies cardiovasculaires, diabète de type 2, hypertension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représentent aujourd’hui la première cause de mortalité mondiale </a:t>
            </a:r>
            <a:r>
              <a:rPr lang="fr-FR" dirty="0">
                <a:solidFill>
                  <a:schemeClr val="tx2"/>
                </a:solidFill>
              </a:rPr>
              <a:t>[1]</a:t>
            </a:r>
            <a:r>
              <a:rPr lang="fr-FR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 développent progressivement sous l’</a:t>
            </a:r>
            <a:r>
              <a:rPr lang="fr-FR" dirty="0" err="1"/>
              <a:t>eﬀet</a:t>
            </a:r>
            <a:r>
              <a:rPr lang="fr-FR" dirty="0"/>
              <a:t> d’une accumulation de comportements quotidiens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endParaRPr lang="fr-FR"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rgbClr val="00468C"/>
              </a:solidFill>
            </a:endParaRPr>
          </a:p>
          <a:p>
            <a:endParaRPr lang="fr-FR" b="1" dirty="0">
              <a:solidFill>
                <a:srgbClr val="00468C"/>
              </a:solidFill>
            </a:endParaRPr>
          </a:p>
          <a:p>
            <a:endParaRPr lang="fr-FR" b="1" dirty="0">
              <a:solidFill>
                <a:srgbClr val="00468C"/>
              </a:solidFill>
            </a:endParaRPr>
          </a:p>
          <a:p>
            <a:r>
              <a:rPr lang="fr-FR" dirty="0"/>
              <a:t>Ces facteurs comportementaux laissent des traces mesurables dans les indicateurs biologiques.</a:t>
            </a:r>
          </a:p>
          <a:p>
            <a:endParaRPr lang="fr-FR" b="1" dirty="0">
              <a:solidFill>
                <a:srgbClr val="00468C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A3D47-3D4F-690B-5F2F-D5D6D4987943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2034A5-3370-D508-D19F-112129B4AE87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8F62F758-A65B-8E31-A6AF-2BD13047FFD9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468C"/>
                </a:solidFill>
              </a:rPr>
              <a:t>II. P</a:t>
            </a:r>
            <a:r>
              <a:rPr sz="2400" b="1" i="0" dirty="0" err="1">
                <a:solidFill>
                  <a:srgbClr val="00468C"/>
                </a:solidFill>
              </a:rPr>
              <a:t>roblématique</a:t>
            </a:r>
            <a:r>
              <a:rPr lang="fr-FR" sz="2400" b="1" dirty="0">
                <a:solidFill>
                  <a:srgbClr val="00468C"/>
                </a:solidFill>
              </a:rPr>
              <a:t> et contextes – contexte </a:t>
            </a:r>
            <a:r>
              <a:rPr lang="fr-FR" sz="2400" b="1" dirty="0" err="1">
                <a:solidFill>
                  <a:srgbClr val="00468C"/>
                </a:solidFill>
              </a:rPr>
              <a:t>metier</a:t>
            </a:r>
            <a:r>
              <a:rPr lang="fr-FR" sz="2400" b="1" dirty="0">
                <a:solidFill>
                  <a:srgbClr val="00468C"/>
                </a:solidFill>
              </a:rPr>
              <a:t> 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862F46E-DCAF-BC0A-84BE-AC2C7F656A1C}"/>
              </a:ext>
            </a:extLst>
          </p:cNvPr>
          <p:cNvSpPr txBox="1"/>
          <p:nvPr/>
        </p:nvSpPr>
        <p:spPr>
          <a:xfrm>
            <a:off x="319976" y="6297409"/>
            <a:ext cx="115488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i="1" dirty="0">
                <a:solidFill>
                  <a:srgbClr val="00468C"/>
                </a:solidFill>
                <a:latin typeface="+mj-lt"/>
              </a:rPr>
              <a:t>[1] 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Frank W. Booth, Christian K. Roberts, and Matthew J. Laye. Lack of </a:t>
            </a:r>
            <a:r>
              <a:rPr lang="fr-FR" sz="1200" i="1" dirty="0" err="1">
                <a:solidFill>
                  <a:srgbClr val="000000"/>
                </a:solidFill>
                <a:latin typeface="+mj-lt"/>
              </a:rPr>
              <a:t>exercise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fr-FR" sz="1200" i="1" dirty="0" err="1">
                <a:solidFill>
                  <a:srgbClr val="000000"/>
                </a:solidFill>
                <a:latin typeface="+mj-lt"/>
              </a:rPr>
              <a:t>is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 a major cause of </a:t>
            </a:r>
            <a:r>
              <a:rPr lang="fr-FR" sz="1200" i="1" dirty="0" err="1">
                <a:solidFill>
                  <a:srgbClr val="000000"/>
                </a:solidFill>
                <a:latin typeface="+mj-lt"/>
              </a:rPr>
              <a:t>chronic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fr-FR" sz="1200" i="1" dirty="0" err="1">
                <a:solidFill>
                  <a:srgbClr val="000000"/>
                </a:solidFill>
                <a:latin typeface="+mj-lt"/>
              </a:rPr>
              <a:t>diseases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. </a:t>
            </a:r>
            <a:r>
              <a:rPr lang="fr-FR" sz="1200" i="1" dirty="0" err="1">
                <a:solidFill>
                  <a:srgbClr val="000000"/>
                </a:solidFill>
                <a:latin typeface="+mj-lt"/>
              </a:rPr>
              <a:t>Comprehensive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fr-FR" sz="1200" i="1" dirty="0" err="1">
                <a:solidFill>
                  <a:srgbClr val="000000"/>
                </a:solidFill>
                <a:latin typeface="+mj-lt"/>
              </a:rPr>
              <a:t>Physiology</a:t>
            </a:r>
            <a:r>
              <a:rPr lang="fr-FR" sz="1200" i="1" dirty="0">
                <a:solidFill>
                  <a:srgbClr val="000000"/>
                </a:solidFill>
                <a:latin typeface="+mj-lt"/>
              </a:rPr>
              <a:t>, 2(2) :1143–1211, 2012.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ED9860AA-A659-692F-E1F7-4EA6C851A4B5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3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B22960C-7C0B-F87E-9E04-3B502C0BF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45" t="13565" r="11379" b="15488"/>
          <a:stretch>
            <a:fillRect/>
          </a:stretch>
        </p:blipFill>
        <p:spPr>
          <a:xfrm>
            <a:off x="3480055" y="2870336"/>
            <a:ext cx="5228712" cy="2061332"/>
          </a:xfrm>
          <a:prstGeom prst="rect">
            <a:avLst/>
          </a:prstGeom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005D312C-CDFC-EB15-B6E2-B2F8069FA78C}"/>
              </a:ext>
            </a:extLst>
          </p:cNvPr>
          <p:cNvSpPr txBox="1"/>
          <p:nvPr/>
        </p:nvSpPr>
        <p:spPr>
          <a:xfrm>
            <a:off x="3065873" y="5067779"/>
            <a:ext cx="605707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0" i="1" dirty="0">
                <a:solidFill>
                  <a:srgbClr val="505050"/>
                </a:solidFill>
              </a:rPr>
              <a:t>Ameli – Le risque cardiovasculaire et ses facteurs</a:t>
            </a:r>
            <a:endParaRPr lang="fr-FR" sz="1300" i="1" dirty="0">
              <a:solidFill>
                <a:srgbClr val="505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750A-4326-B86D-5A7A-27F554A6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DDECE36-F8A1-E33E-9362-49EE03D03D82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CD191-080E-F4A5-C05D-5F4F75BAD058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D3FA7B-33BD-DA34-6934-7D385430B694}"/>
              </a:ext>
            </a:extLst>
          </p:cNvPr>
          <p:cNvSpPr txBox="1"/>
          <p:nvPr/>
        </p:nvSpPr>
        <p:spPr>
          <a:xfrm>
            <a:off x="319974" y="1019112"/>
            <a:ext cx="1154887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0468C"/>
                </a:solidFill>
              </a:rPr>
              <a:t>Seuils</a:t>
            </a:r>
            <a:r>
              <a:rPr sz="2000" b="1" dirty="0">
                <a:solidFill>
                  <a:srgbClr val="00468C"/>
                </a:solidFill>
              </a:rPr>
              <a:t> </a:t>
            </a:r>
            <a:r>
              <a:rPr sz="2000" b="1" dirty="0" err="1">
                <a:solidFill>
                  <a:srgbClr val="00468C"/>
                </a:solidFill>
              </a:rPr>
              <a:t>médicaux</a:t>
            </a:r>
            <a:r>
              <a:rPr sz="2000" b="1" dirty="0">
                <a:solidFill>
                  <a:srgbClr val="00468C"/>
                </a:solidFill>
              </a:rPr>
              <a:t> de </a:t>
            </a:r>
            <a:r>
              <a:rPr sz="2000" b="1" dirty="0" err="1">
                <a:solidFill>
                  <a:srgbClr val="00468C"/>
                </a:solidFill>
              </a:rPr>
              <a:t>référence</a:t>
            </a:r>
            <a:endParaRPr lang="fr-FR" sz="2000" b="1" dirty="0">
              <a:solidFill>
                <a:srgbClr val="00468C"/>
              </a:solidFill>
            </a:endParaRPr>
          </a:p>
          <a:p>
            <a:pPr algn="l"/>
            <a:endParaRPr b="1" dirty="0">
              <a:solidFill>
                <a:srgbClr val="0046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Obésité</a:t>
            </a:r>
            <a:r>
              <a:rPr dirty="0">
                <a:solidFill>
                  <a:srgbClr val="000000"/>
                </a:solidFill>
              </a:rPr>
              <a:t> : IMC &gt; 30  (</a:t>
            </a:r>
            <a:r>
              <a:rPr dirty="0" err="1">
                <a:solidFill>
                  <a:srgbClr val="000000"/>
                </a:solidFill>
              </a:rPr>
              <a:t>seuil</a:t>
            </a:r>
            <a:r>
              <a:rPr dirty="0">
                <a:solidFill>
                  <a:srgbClr val="000000"/>
                </a:solidFill>
              </a:rPr>
              <a:t> OMS)</a:t>
            </a:r>
            <a:r>
              <a:rPr lang="fr-FR" dirty="0">
                <a:solidFill>
                  <a:srgbClr val="000000"/>
                </a:solidFill>
              </a:rPr>
              <a:t> = un déséquilibre énergétique chronique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Hypercholestérolémie</a:t>
            </a:r>
            <a:r>
              <a:rPr dirty="0">
                <a:solidFill>
                  <a:srgbClr val="000000"/>
                </a:solidFill>
              </a:rPr>
              <a:t> : </a:t>
            </a:r>
            <a:r>
              <a:rPr lang="fr-FR" dirty="0">
                <a:solidFill>
                  <a:srgbClr val="000000"/>
                </a:solidFill>
              </a:rPr>
              <a:t>taux de </a:t>
            </a:r>
            <a:r>
              <a:rPr dirty="0" err="1">
                <a:solidFill>
                  <a:srgbClr val="000000"/>
                </a:solidFill>
              </a:rPr>
              <a:t>cholestérol</a:t>
            </a:r>
            <a:r>
              <a:rPr dirty="0">
                <a:solidFill>
                  <a:srgbClr val="000000"/>
                </a:solidFill>
              </a:rPr>
              <a:t> &gt; 200 mg/dL  (NCEP)</a:t>
            </a:r>
            <a:r>
              <a:rPr lang="fr-FR" dirty="0">
                <a:solidFill>
                  <a:srgbClr val="000000"/>
                </a:solidFill>
              </a:rPr>
              <a:t> = un risque cardiovasculaire accru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Hypertension : pression </a:t>
            </a:r>
            <a:r>
              <a:rPr dirty="0" err="1">
                <a:solidFill>
                  <a:srgbClr val="000000"/>
                </a:solidFill>
              </a:rPr>
              <a:t>systolique</a:t>
            </a:r>
            <a:r>
              <a:rPr dirty="0">
                <a:solidFill>
                  <a:srgbClr val="000000"/>
                </a:solidFill>
              </a:rPr>
              <a:t> ≥ 140 mmHg  (ESC)</a:t>
            </a:r>
            <a:r>
              <a:rPr lang="fr-FR" dirty="0">
                <a:solidFill>
                  <a:srgbClr val="000000"/>
                </a:solidFill>
              </a:rPr>
              <a:t> = une hypertension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767D4C7-53FA-00A4-7E3A-C7473B8B94C5}"/>
              </a:ext>
            </a:extLst>
          </p:cNvPr>
          <p:cNvSpPr txBox="1"/>
          <p:nvPr/>
        </p:nvSpPr>
        <p:spPr>
          <a:xfrm>
            <a:off x="319973" y="5859232"/>
            <a:ext cx="11548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00" b="0" i="1" dirty="0">
                <a:solidFill>
                  <a:srgbClr val="505050"/>
                </a:solidFill>
              </a:rPr>
              <a:t>OMS : Organisation Mondiale de la Santé | </a:t>
            </a:r>
            <a:r>
              <a:rPr lang="fr-FR" sz="1300" i="1" dirty="0">
                <a:solidFill>
                  <a:srgbClr val="505050"/>
                </a:solidFill>
              </a:rPr>
              <a:t>NCEP : National </a:t>
            </a:r>
            <a:r>
              <a:rPr lang="fr-FR" sz="1300" i="1" dirty="0" err="1">
                <a:solidFill>
                  <a:srgbClr val="505050"/>
                </a:solidFill>
              </a:rPr>
              <a:t>Cholesterol</a:t>
            </a:r>
            <a:r>
              <a:rPr lang="fr-FR" sz="1300" i="1" dirty="0">
                <a:solidFill>
                  <a:srgbClr val="505050"/>
                </a:solidFill>
              </a:rPr>
              <a:t> Education Program | ESC : </a:t>
            </a:r>
            <a:r>
              <a:rPr lang="fr-FR" sz="1300" i="1" dirty="0" err="1">
                <a:solidFill>
                  <a:srgbClr val="505050"/>
                </a:solidFill>
              </a:rPr>
              <a:t>European</a:t>
            </a:r>
            <a:r>
              <a:rPr lang="fr-FR" sz="1300" i="1" dirty="0">
                <a:solidFill>
                  <a:srgbClr val="505050"/>
                </a:solidFill>
              </a:rPr>
              <a:t> Society of </a:t>
            </a:r>
            <a:r>
              <a:rPr lang="fr-FR" sz="1300" i="1" dirty="0" err="1">
                <a:solidFill>
                  <a:srgbClr val="505050"/>
                </a:solidFill>
              </a:rPr>
              <a:t>Cardiology</a:t>
            </a:r>
            <a:endParaRPr lang="fr-FR" sz="1300" i="1" dirty="0">
              <a:solidFill>
                <a:srgbClr val="505050"/>
              </a:solidFill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7ADE9A6-9407-FF97-C447-66AF8A5194BE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468C"/>
                </a:solidFill>
              </a:rPr>
              <a:t>II. P</a:t>
            </a:r>
            <a:r>
              <a:rPr sz="2400" b="1" i="0" dirty="0" err="1">
                <a:solidFill>
                  <a:srgbClr val="00468C"/>
                </a:solidFill>
              </a:rPr>
              <a:t>roblématique</a:t>
            </a:r>
            <a:r>
              <a:rPr lang="fr-FR" sz="2400" b="1" dirty="0">
                <a:solidFill>
                  <a:srgbClr val="00468C"/>
                </a:solidFill>
              </a:rPr>
              <a:t> et contextes – seuils médicaux 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4C3F28C5-E25A-03BC-BB6D-E15BE2381F03}"/>
              </a:ext>
            </a:extLst>
          </p:cNvPr>
          <p:cNvSpPr txBox="1"/>
          <p:nvPr/>
        </p:nvSpPr>
        <p:spPr>
          <a:xfrm>
            <a:off x="319973" y="2705530"/>
            <a:ext cx="11548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</a:rPr>
              <a:t>L’enjeu est donc double :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E6A76-243A-3FE7-9520-A58A1033D479}"/>
              </a:ext>
            </a:extLst>
          </p:cNvPr>
          <p:cNvSpPr/>
          <p:nvPr/>
        </p:nvSpPr>
        <p:spPr>
          <a:xfrm>
            <a:off x="1892919" y="3458762"/>
            <a:ext cx="4595750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Comprendre comment les habitudes de vie se traduisent en risques mesurables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8E19E-3C44-1E84-4D38-4D9A78E8240D}"/>
              </a:ext>
            </a:extLst>
          </p:cNvPr>
          <p:cNvSpPr/>
          <p:nvPr/>
        </p:nvSpPr>
        <p:spPr>
          <a:xfrm>
            <a:off x="5696704" y="4558492"/>
            <a:ext cx="5080272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Evaluer dans quelle mesure des modèles de ML peuvent capturer ces relations à partir de données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854B7D-12B8-25CC-46FE-F57564228FC0}"/>
              </a:ext>
            </a:extLst>
          </p:cNvPr>
          <p:cNvSpPr txBox="1"/>
          <p:nvPr/>
        </p:nvSpPr>
        <p:spPr>
          <a:xfrm>
            <a:off x="1073852" y="3562019"/>
            <a:ext cx="570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Baguet Script" panose="000005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296C85-81AB-F7C2-C63E-129405A904CC}"/>
              </a:ext>
            </a:extLst>
          </p:cNvPr>
          <p:cNvSpPr txBox="1"/>
          <p:nvPr/>
        </p:nvSpPr>
        <p:spPr>
          <a:xfrm>
            <a:off x="4833918" y="4661749"/>
            <a:ext cx="8627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Baguet Script" panose="000005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2)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1B7C338-2715-2187-CBE0-D6A811BE599B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4</a:t>
            </a:r>
            <a:endParaRPr sz="1000" b="0" i="0" dirty="0">
              <a:solidFill>
                <a:srgbClr val="8C8C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41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III. </a:t>
            </a:r>
            <a:r>
              <a:rPr sz="2400" b="1" i="0" dirty="0">
                <a:solidFill>
                  <a:srgbClr val="00468C"/>
                </a:solidFill>
              </a:rPr>
              <a:t>Jeu de données </a:t>
            </a:r>
            <a:r>
              <a:rPr lang="fr-FR" sz="2400" b="1" i="0" dirty="0">
                <a:solidFill>
                  <a:srgbClr val="00468C"/>
                </a:solidFill>
              </a:rPr>
              <a:t>et Pipeline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079936"/>
              </p:ext>
            </p:extLst>
          </p:nvPr>
        </p:nvGraphicFramePr>
        <p:xfrm>
          <a:off x="320040" y="950975"/>
          <a:ext cx="11548872" cy="1478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32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Variables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23">
                <a:tc>
                  <a:txBody>
                    <a:bodyPr/>
                    <a:lstStyle/>
                    <a:p>
                      <a:pPr algn="l"/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Habitudes de vie (6)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daily_steps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sleep_hours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water_intake_l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calories_consumed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smoker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alcohol</a:t>
                      </a:r>
                      <a:endParaRPr lang="fr-FR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l"/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Indicateurs biologiques (5)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bmi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resting_hr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systolic_bp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diastolic_bp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cholesterol</a:t>
                      </a:r>
                      <a:endParaRPr lang="fr-FR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60">
                <a:tc>
                  <a:txBody>
                    <a:bodyPr/>
                    <a:lstStyle/>
                    <a:p>
                      <a:pPr algn="l"/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Caractéristiques personnelles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age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gender</a:t>
                      </a:r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family_history</a:t>
                      </a:r>
                      <a:endParaRPr lang="fr-FR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165" y="2989622"/>
            <a:ext cx="11548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468C"/>
                </a:solidFill>
              </a:rPr>
              <a:t>Points </a:t>
            </a:r>
            <a:r>
              <a:rPr sz="2000" b="1" dirty="0" err="1">
                <a:solidFill>
                  <a:srgbClr val="00468C"/>
                </a:solidFill>
              </a:rPr>
              <a:t>clés</a:t>
            </a:r>
            <a:endParaRPr lang="fr-FR" sz="2000" b="1" dirty="0">
              <a:solidFill>
                <a:srgbClr val="00468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4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57DEA4B-4400-DB1B-7EC6-C8A593F0C358}"/>
              </a:ext>
            </a:extLst>
          </p:cNvPr>
          <p:cNvSpPr txBox="1"/>
          <p:nvPr/>
        </p:nvSpPr>
        <p:spPr>
          <a:xfrm>
            <a:off x="320040" y="6404366"/>
            <a:ext cx="5989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i="1" dirty="0">
                <a:solidFill>
                  <a:srgbClr val="646464"/>
                </a:solidFill>
              </a:rPr>
              <a:t>RGPD : Règlement Général sur la Protection des Données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29A27A-9CFB-F726-A81B-23DD96BE7E3F}"/>
              </a:ext>
            </a:extLst>
          </p:cNvPr>
          <p:cNvSpPr/>
          <p:nvPr/>
        </p:nvSpPr>
        <p:spPr>
          <a:xfrm>
            <a:off x="723800" y="3542764"/>
            <a:ext cx="1923802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100 000 individus, 15 variables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493A3-9BE2-6628-9587-C59937415D7B}"/>
              </a:ext>
            </a:extLst>
          </p:cNvPr>
          <p:cNvSpPr/>
          <p:nvPr/>
        </p:nvSpPr>
        <p:spPr>
          <a:xfrm>
            <a:off x="2956957" y="3543733"/>
            <a:ext cx="8508068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Dataset</a:t>
            </a:r>
            <a:r>
              <a:rPr lang="fr-FR" dirty="0">
                <a:solidFill>
                  <a:schemeClr val="tx1"/>
                </a:solidFill>
              </a:rPr>
              <a:t> synthétique (</a:t>
            </a:r>
            <a:r>
              <a:rPr lang="fr-FR" dirty="0" err="1">
                <a:solidFill>
                  <a:schemeClr val="tx1"/>
                </a:solidFill>
              </a:rPr>
              <a:t>Kaggle</a:t>
            </a:r>
            <a:r>
              <a:rPr lang="fr-FR" dirty="0">
                <a:solidFill>
                  <a:schemeClr val="tx1"/>
                </a:solidFill>
              </a:rPr>
              <a:t>) — sans contrainte RGPD : données générées algorithmiquement et ne correspondent à aucun individu réel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C87C5-EBDF-F7B9-44ED-3DDB8AE88FE0}"/>
              </a:ext>
            </a:extLst>
          </p:cNvPr>
          <p:cNvSpPr/>
          <p:nvPr/>
        </p:nvSpPr>
        <p:spPr>
          <a:xfrm>
            <a:off x="2182484" y="4659261"/>
            <a:ext cx="2828903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Aucune valeur manquante, aucun </a:t>
            </a:r>
            <a:r>
              <a:rPr lang="fr-FR" dirty="0" err="1">
                <a:solidFill>
                  <a:schemeClr val="tx1"/>
                </a:solidFill>
              </a:rPr>
              <a:t>outlier</a:t>
            </a:r>
            <a:r>
              <a:rPr lang="fr-FR" dirty="0">
                <a:solidFill>
                  <a:schemeClr val="tx1"/>
                </a:solidFill>
              </a:rPr>
              <a:t> (IQR)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65521D-0ECC-90D6-2FA6-07911E396C77}"/>
              </a:ext>
            </a:extLst>
          </p:cNvPr>
          <p:cNvSpPr/>
          <p:nvPr/>
        </p:nvSpPr>
        <p:spPr>
          <a:xfrm>
            <a:off x="5524995" y="4659261"/>
            <a:ext cx="3551316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Distributions quasi-uniformes (</a:t>
            </a:r>
            <a:r>
              <a:rPr lang="fr-FR" dirty="0" err="1">
                <a:solidFill>
                  <a:schemeClr val="tx1"/>
                </a:solidFill>
              </a:rPr>
              <a:t>skewness</a:t>
            </a:r>
            <a:r>
              <a:rPr lang="fr-FR" dirty="0">
                <a:solidFill>
                  <a:schemeClr val="tx1"/>
                </a:solidFill>
              </a:rPr>
              <a:t> &lt; |0.02|)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F6A66B8E-2FB7-AEB9-35D4-FC325CAF63CF}"/>
              </a:ext>
            </a:extLst>
          </p:cNvPr>
          <p:cNvSpPr txBox="1"/>
          <p:nvPr/>
        </p:nvSpPr>
        <p:spPr>
          <a:xfrm>
            <a:off x="5774436" y="6404366"/>
            <a:ext cx="11548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05050"/>
                </a:solidFill>
              </a:rPr>
              <a:t>Variable </a:t>
            </a:r>
            <a:r>
              <a:rPr sz="1100" b="0" i="1" dirty="0" err="1">
                <a:solidFill>
                  <a:srgbClr val="505050"/>
                </a:solidFill>
              </a:rPr>
              <a:t>cible</a:t>
            </a:r>
            <a:r>
              <a:rPr sz="1100" b="0" i="1" dirty="0">
                <a:solidFill>
                  <a:srgbClr val="505050"/>
                </a:solidFill>
              </a:rPr>
              <a:t> </a:t>
            </a:r>
            <a:r>
              <a:rPr sz="1100" b="0" i="1" dirty="0" err="1">
                <a:solidFill>
                  <a:srgbClr val="505050"/>
                </a:solidFill>
              </a:rPr>
              <a:t>régression</a:t>
            </a:r>
            <a:r>
              <a:rPr sz="1100" b="0" i="1" dirty="0">
                <a:solidFill>
                  <a:srgbClr val="505050"/>
                </a:solidFill>
              </a:rPr>
              <a:t> : cholesterol (mg/dL)  |  Variable </a:t>
            </a:r>
            <a:r>
              <a:rPr sz="1100" b="0" i="1" dirty="0" err="1">
                <a:solidFill>
                  <a:srgbClr val="505050"/>
                </a:solidFill>
              </a:rPr>
              <a:t>cible</a:t>
            </a:r>
            <a:r>
              <a:rPr sz="1100" b="0" i="1" dirty="0">
                <a:solidFill>
                  <a:srgbClr val="505050"/>
                </a:solidFill>
              </a:rPr>
              <a:t> classification : </a:t>
            </a:r>
            <a:r>
              <a:rPr sz="1100" b="0" i="1" dirty="0" err="1">
                <a:solidFill>
                  <a:srgbClr val="505050"/>
                </a:solidFill>
              </a:rPr>
              <a:t>disease_risk</a:t>
            </a:r>
            <a:r>
              <a:rPr sz="1100" b="0" i="1" dirty="0">
                <a:solidFill>
                  <a:srgbClr val="505050"/>
                </a:solidFill>
              </a:rPr>
              <a:t> (0/1)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147431B-9282-81E4-7B56-2FBB7869AF28}"/>
              </a:ext>
            </a:extLst>
          </p:cNvPr>
          <p:cNvSpPr txBox="1"/>
          <p:nvPr/>
        </p:nvSpPr>
        <p:spPr>
          <a:xfrm>
            <a:off x="2647602" y="2605331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</a:t>
            </a:r>
            <a:r>
              <a:rPr lang="fr-FR" sz="1100" i="1" dirty="0">
                <a:solidFill>
                  <a:srgbClr val="646464"/>
                </a:solidFill>
              </a:rPr>
              <a:t>3</a:t>
            </a:r>
            <a:r>
              <a:rPr lang="fr-FR" sz="1100" b="0" i="1" dirty="0">
                <a:solidFill>
                  <a:srgbClr val="646464"/>
                </a:solidFill>
              </a:rPr>
              <a:t>.1 - Variables</a:t>
            </a:r>
            <a:endParaRPr sz="1100" b="0" i="1"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468C"/>
                </a:solidFill>
              </a:rPr>
              <a:t>III. Jeu de données et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Corrélations &lt; 0.01
Déséquilibre 75/25
Pas d'outliers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21992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3704" y="1033128"/>
            <a:ext cx="17190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Feature</a:t>
            </a:r>
            <a:r>
              <a:rPr lang="fr-FR" sz="1300" b="1" dirty="0">
                <a:solidFill>
                  <a:srgbClr val="FFFFFF"/>
                </a:solidFill>
              </a:rPr>
              <a:t> </a:t>
            </a:r>
            <a:r>
              <a:rPr sz="1300" b="1" i="0" dirty="0">
                <a:solidFill>
                  <a:srgbClr val="FFFFFF"/>
                </a:solidFill>
              </a:rPr>
              <a:t>Eng.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2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5144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000000"/>
                </a:solidFill>
              </a:rPr>
              <a:t>Encodage</a:t>
            </a:r>
            <a:r>
              <a:rPr sz="1100" b="0" i="0" dirty="0">
                <a:solidFill>
                  <a:srgbClr val="000000"/>
                </a:solidFill>
              </a:rPr>
              <a:t> gender
3 variables métier
Leakage </a:t>
            </a:r>
            <a:r>
              <a:rPr sz="1100" b="0" i="0" dirty="0" err="1">
                <a:solidFill>
                  <a:srgbClr val="000000"/>
                </a:solidFill>
              </a:rPr>
              <a:t>détecté</a:t>
            </a:r>
            <a:endParaRPr sz="1100" b="0" i="0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77640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23944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23944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Régression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23944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97096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6 modèles
RandSearchCV
K-Fold k=5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9592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25896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Classif.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5896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8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3 modèles
SMOTE vs CW
Strat. K-Fold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81544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27848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7848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Clustering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7848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01000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K-Means k=3
CAH Ward
ACP 24.3%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83496" y="1634236"/>
            <a:ext cx="128016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29800" y="996696"/>
            <a:ext cx="1719072" cy="365760"/>
          </a:xfrm>
          <a:prstGeom prst="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9800" y="1033272"/>
            <a:ext cx="1719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Interprét.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362456"/>
            <a:ext cx="1719072" cy="9601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02952" y="1417320"/>
            <a:ext cx="157276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Coeff. LR/Ridge
FI Gini RF/XGB
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2603177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 err="1">
                <a:solidFill>
                  <a:srgbClr val="505050"/>
                </a:solidFill>
              </a:rPr>
              <a:t>Approche</a:t>
            </a:r>
            <a:r>
              <a:rPr sz="1300" b="0" i="1" dirty="0">
                <a:solidFill>
                  <a:srgbClr val="505050"/>
                </a:solidFill>
              </a:rPr>
              <a:t> </a:t>
            </a:r>
            <a:r>
              <a:rPr sz="1300" b="0" i="1" dirty="0" err="1">
                <a:solidFill>
                  <a:srgbClr val="505050"/>
                </a:solidFill>
              </a:rPr>
              <a:t>itérative</a:t>
            </a:r>
            <a:r>
              <a:rPr sz="1300" b="0" i="1" dirty="0">
                <a:solidFill>
                  <a:srgbClr val="505050"/>
                </a:solidFill>
              </a:rPr>
              <a:t> : </a:t>
            </a:r>
            <a:r>
              <a:rPr sz="1300" b="0" i="1" dirty="0" err="1">
                <a:solidFill>
                  <a:srgbClr val="505050"/>
                </a:solidFill>
              </a:rPr>
              <a:t>chaque</a:t>
            </a:r>
            <a:r>
              <a:rPr sz="1300" b="0" i="1" dirty="0">
                <a:solidFill>
                  <a:srgbClr val="505050"/>
                </a:solidFill>
              </a:rPr>
              <a:t> étape </a:t>
            </a:r>
            <a:r>
              <a:rPr sz="1300" b="0" i="1" dirty="0" err="1">
                <a:solidFill>
                  <a:srgbClr val="505050"/>
                </a:solidFill>
              </a:rPr>
              <a:t>informe</a:t>
            </a:r>
            <a:r>
              <a:rPr sz="1300" b="0" i="1" dirty="0">
                <a:solidFill>
                  <a:srgbClr val="505050"/>
                </a:solidFill>
              </a:rPr>
              <a:t> la </a:t>
            </a:r>
            <a:r>
              <a:rPr sz="1300" b="0" i="1" dirty="0" err="1">
                <a:solidFill>
                  <a:srgbClr val="505050"/>
                </a:solidFill>
              </a:rPr>
              <a:t>suivante</a:t>
            </a:r>
            <a:r>
              <a:rPr sz="1300" b="0" i="1" dirty="0">
                <a:solidFill>
                  <a:srgbClr val="505050"/>
                </a:solidFill>
              </a:rPr>
              <a:t> (EDA → anticipation des </a:t>
            </a:r>
            <a:r>
              <a:rPr sz="1300" b="0" i="1" dirty="0" err="1">
                <a:solidFill>
                  <a:srgbClr val="505050"/>
                </a:solidFill>
              </a:rPr>
              <a:t>problèmes</a:t>
            </a:r>
            <a:r>
              <a:rPr sz="1300" b="0" i="1" dirty="0">
                <a:solidFill>
                  <a:srgbClr val="505050"/>
                </a:solidFill>
              </a:rPr>
              <a:t> de signal → choix des </a:t>
            </a:r>
            <a:r>
              <a:rPr sz="1300" b="0" i="1" dirty="0" err="1">
                <a:solidFill>
                  <a:srgbClr val="505050"/>
                </a:solidFill>
              </a:rPr>
              <a:t>modèles</a:t>
            </a:r>
            <a:r>
              <a:rPr sz="1300" b="0" i="1" dirty="0">
                <a:solidFill>
                  <a:srgbClr val="505050"/>
                </a:solidFill>
              </a:rPr>
              <a:t> → </a:t>
            </a:r>
            <a:r>
              <a:rPr sz="1300" b="0" i="1" dirty="0" err="1">
                <a:solidFill>
                  <a:srgbClr val="505050"/>
                </a:solidFill>
              </a:rPr>
              <a:t>interprétabilité</a:t>
            </a:r>
            <a:r>
              <a:rPr sz="1300" b="0" i="1" dirty="0">
                <a:solidFill>
                  <a:srgbClr val="505050"/>
                </a:solidFill>
              </a:rPr>
              <a:t>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913923"/>
              </p:ext>
            </p:extLst>
          </p:nvPr>
        </p:nvGraphicFramePr>
        <p:xfrm>
          <a:off x="320040" y="3162993"/>
          <a:ext cx="11704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Tâche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Meilleur modèle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Métrique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principale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Conclusion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Régression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XGBoost tuné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R² =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Aucun signal — tous équivalents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Classification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AUC = 0.499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Équivalent tirage aléatoire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</a:rPr>
                        <a:t>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</a:rPr>
                        <a:t>K-Means k=3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</a:rPr>
                        <a:t>Silhouette = 0.103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000000"/>
                          </a:solidFill>
                        </a:rPr>
                        <a:t>Profils</a:t>
                      </a:r>
                      <a:r>
                        <a:rPr sz="13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</a:rPr>
                        <a:t>biologiques</a:t>
                      </a:r>
                      <a:r>
                        <a:rPr sz="13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</a:rPr>
                        <a:t>interprétables</a:t>
                      </a:r>
                      <a:endParaRPr sz="13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BD6ED-0F2F-DE46-BA73-78419E0DA54A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11164-D3E2-A181-2C9B-1128E48328F3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0" dirty="0">
                <a:solidFill>
                  <a:srgbClr val="00468C"/>
                </a:solidFill>
              </a:rPr>
              <a:t>IV. Etat de </a:t>
            </a:r>
            <a:r>
              <a:rPr lang="fr-FR" sz="2400" b="1" dirty="0">
                <a:solidFill>
                  <a:srgbClr val="00468C"/>
                </a:solidFill>
              </a:rPr>
              <a:t>l’art — </a:t>
            </a:r>
            <a:r>
              <a:rPr lang="fr-FR" sz="2400" b="1" i="0" dirty="0">
                <a:solidFill>
                  <a:srgbClr val="00468C"/>
                </a:solidFill>
              </a:rPr>
              <a:t>ML en santé 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81596-763A-9E30-ABDB-9A0809E1E811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7" descr="machine_learning.png">
            <a:extLst>
              <a:ext uri="{FF2B5EF4-FFF2-40B4-BE49-F238E27FC236}">
                <a16:creationId xmlns:a16="http://schemas.microsoft.com/office/drawing/2014/main" id="{08CBF74E-F568-BA4E-926D-19800D68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09935"/>
            <a:ext cx="5403866" cy="293017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24138542-E852-E9C7-196C-93F8295FA51E}"/>
              </a:ext>
            </a:extLst>
          </p:cNvPr>
          <p:cNvSpPr txBox="1"/>
          <p:nvPr/>
        </p:nvSpPr>
        <p:spPr>
          <a:xfrm>
            <a:off x="209830" y="3910829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Figure 4.1 - </a:t>
            </a:r>
            <a:r>
              <a:rPr sz="1100" b="0" i="1" dirty="0">
                <a:solidFill>
                  <a:srgbClr val="646464"/>
                </a:solidFill>
              </a:rPr>
              <a:t>Vue </a:t>
            </a:r>
            <a:r>
              <a:rPr sz="1100" b="0" i="1" dirty="0" err="1">
                <a:solidFill>
                  <a:srgbClr val="646464"/>
                </a:solidFill>
              </a:rPr>
              <a:t>d'ensemble</a:t>
            </a:r>
            <a:r>
              <a:rPr sz="1100" b="0" i="1" dirty="0">
                <a:solidFill>
                  <a:srgbClr val="646464"/>
                </a:solidFill>
              </a:rPr>
              <a:t> des </a:t>
            </a:r>
            <a:r>
              <a:rPr sz="1100" b="0" i="1" dirty="0" err="1">
                <a:solidFill>
                  <a:srgbClr val="646464"/>
                </a:solidFill>
              </a:rPr>
              <a:t>familles</a:t>
            </a:r>
            <a:r>
              <a:rPr sz="1100" b="0" i="1" dirty="0">
                <a:solidFill>
                  <a:srgbClr val="646464"/>
                </a:solidFill>
              </a:rPr>
              <a:t> </a:t>
            </a:r>
            <a:r>
              <a:rPr sz="1100" b="0" i="1" dirty="0" err="1">
                <a:solidFill>
                  <a:srgbClr val="646464"/>
                </a:solidFill>
              </a:rPr>
              <a:t>d'algorithmes</a:t>
            </a:r>
            <a:r>
              <a:rPr sz="1100" b="0" i="1" dirty="0">
                <a:solidFill>
                  <a:srgbClr val="646464"/>
                </a:solidFill>
              </a:rPr>
              <a:t> ML  (</a:t>
            </a:r>
            <a:r>
              <a:rPr sz="1100" b="0" i="1" dirty="0" err="1">
                <a:solidFill>
                  <a:srgbClr val="646464"/>
                </a:solidFill>
              </a:rPr>
              <a:t>d'après</a:t>
            </a:r>
            <a:r>
              <a:rPr sz="1100" b="0" i="1" dirty="0">
                <a:solidFill>
                  <a:srgbClr val="646464"/>
                </a:solidFill>
              </a:rPr>
              <a:t> </a:t>
            </a:r>
            <a:r>
              <a:rPr sz="1100" b="0" i="1" dirty="0" err="1">
                <a:solidFill>
                  <a:srgbClr val="646464"/>
                </a:solidFill>
              </a:rPr>
              <a:t>Rajpurkar</a:t>
            </a:r>
            <a:r>
              <a:rPr sz="1100" b="0" i="1" dirty="0">
                <a:solidFill>
                  <a:srgbClr val="646464"/>
                </a:solidFill>
              </a:rPr>
              <a:t> et al., 2022)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B403512-62A7-09EC-C72B-CA5354C82B70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5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1662CA7-8EF0-3F9C-7FB3-FBA699EEC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307" y="984433"/>
            <a:ext cx="4981817" cy="271663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5072E6E-0D25-DC14-A73E-964ED6BE2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527" y="4295981"/>
            <a:ext cx="3106592" cy="182391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04F85A9-B1C0-5CD9-1A2E-3F6D1A8FE7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154"/>
          <a:stretch>
            <a:fillRect/>
          </a:stretch>
        </p:blipFill>
        <p:spPr>
          <a:xfrm>
            <a:off x="484856" y="4504773"/>
            <a:ext cx="5191887" cy="1612907"/>
          </a:xfrm>
          <a:prstGeom prst="rect">
            <a:avLst/>
          </a:prstGeom>
        </p:spPr>
      </p:pic>
      <p:sp>
        <p:nvSpPr>
          <p:cNvPr id="22" name="TextBox 8">
            <a:extLst>
              <a:ext uri="{FF2B5EF4-FFF2-40B4-BE49-F238E27FC236}">
                <a16:creationId xmlns:a16="http://schemas.microsoft.com/office/drawing/2014/main" id="{65B15500-8A1E-2185-FB1C-4EE22BB2719C}"/>
              </a:ext>
            </a:extLst>
          </p:cNvPr>
          <p:cNvSpPr txBox="1"/>
          <p:nvPr/>
        </p:nvSpPr>
        <p:spPr>
          <a:xfrm>
            <a:off x="209830" y="6291704"/>
            <a:ext cx="5623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0" i="1" dirty="0">
                <a:solidFill>
                  <a:srgbClr val="646464"/>
                </a:solidFill>
              </a:rPr>
              <a:t>Détection précoce du diabète de type 2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4391B303-DBC7-B507-FCC1-8CD5D45E42B8}"/>
              </a:ext>
            </a:extLst>
          </p:cNvPr>
          <p:cNvSpPr txBox="1"/>
          <p:nvPr/>
        </p:nvSpPr>
        <p:spPr>
          <a:xfrm>
            <a:off x="6440043" y="6291703"/>
            <a:ext cx="5623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0" i="1" dirty="0">
                <a:solidFill>
                  <a:srgbClr val="646464"/>
                </a:solidFill>
              </a:rPr>
              <a:t>Stratification de patients par profil de mode de vie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DD4158FB-A441-1802-5D48-1474833B6784}"/>
              </a:ext>
            </a:extLst>
          </p:cNvPr>
          <p:cNvSpPr txBox="1"/>
          <p:nvPr/>
        </p:nvSpPr>
        <p:spPr>
          <a:xfrm>
            <a:off x="6355436" y="3824193"/>
            <a:ext cx="5623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0" i="1" dirty="0">
                <a:solidFill>
                  <a:srgbClr val="646464"/>
                </a:solidFill>
              </a:rPr>
              <a:t>Prédiction du risque cardiovasculaire</a:t>
            </a:r>
          </a:p>
        </p:txBody>
      </p:sp>
    </p:spTree>
    <p:extLst>
      <p:ext uri="{BB962C8B-B14F-4D97-AF65-F5344CB8AC3E}">
        <p14:creationId xmlns:p14="http://schemas.microsoft.com/office/powerpoint/2010/main" val="1280015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7F2DF305-36AC-D25D-243E-F171D04E2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048165"/>
              </p:ext>
            </p:extLst>
          </p:nvPr>
        </p:nvGraphicFramePr>
        <p:xfrm>
          <a:off x="320040" y="1339489"/>
          <a:ext cx="11750039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Algorithme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Famille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Avantage clé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Régression 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Interprétable,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Relations linéaires seulement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Ridge (L2)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Régularisée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Stabilise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coeff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</a:rPr>
                        <a:t>icients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instables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Ne sélectionne pas les variables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Lasso (L1)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Régularisée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Sélection automatique vars.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Élimine variables corrélées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ElasticNet (L1+L2)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Régularisée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Combine Ridge + Lasso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2 hyperparamètres à tuner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Ensembliste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Non-linéaire, parallèle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Peu interprétable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Ensembliste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Supervisé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Corrige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erreurs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séquentiel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</a:rPr>
                        <a:t>les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Risque surapprentissage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lang="fr-FR" sz="1200" dirty="0">
                          <a:solidFill>
                            <a:srgbClr val="000000"/>
                          </a:solidFill>
                        </a:rPr>
                        <a:t>Régression logistique</a:t>
                      </a:r>
                      <a:endParaRPr sz="12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Classif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Interprétable, 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Frontière de décision linéaire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K-Means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Partitionnel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 superv.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Rapide, O(n)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k fixé, sensible aux outliers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</a:rPr>
                        <a:t>CAH 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Hiérarchique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Non superv.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</a:rPr>
                        <a:t>Dendrogramme lisible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00000"/>
                          </a:solidFill>
                        </a:rPr>
                        <a:t>O(n²) → 5 000 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</a:rPr>
                        <a:t>individus</a:t>
                      </a:r>
                      <a:r>
                        <a:rPr sz="1200" dirty="0">
                          <a:solidFill>
                            <a:srgbClr val="000000"/>
                          </a:solidFill>
                        </a:rPr>
                        <a:t>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E2530D8-ECE1-6ACC-D3F0-C1D5310B3947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F6E7E-4B75-3ED4-B7E1-8EB578ED8724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515180E-4DA0-6C13-FB98-C46D4833B34B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468C"/>
                </a:solidFill>
              </a:rPr>
              <a:t>IV. Etat de l’art — c</a:t>
            </a:r>
            <a:r>
              <a:rPr sz="2400" b="1" i="0" dirty="0" err="1">
                <a:solidFill>
                  <a:srgbClr val="00468C"/>
                </a:solidFill>
              </a:rPr>
              <a:t>omparatif</a:t>
            </a:r>
            <a:r>
              <a:rPr sz="2400" b="1" i="0" dirty="0">
                <a:solidFill>
                  <a:srgbClr val="00468C"/>
                </a:solidFill>
              </a:rPr>
              <a:t> des </a:t>
            </a:r>
            <a:r>
              <a:rPr sz="2400" b="1" i="0" dirty="0" err="1">
                <a:solidFill>
                  <a:srgbClr val="00468C"/>
                </a:solidFill>
              </a:rPr>
              <a:t>algorithmes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sz="2400" b="1" i="0" dirty="0" err="1">
                <a:solidFill>
                  <a:srgbClr val="00468C"/>
                </a:solidFill>
              </a:rPr>
              <a:t>utilisés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39F9EBB-FFE0-29D2-0C96-01AD2DB2370E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6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F984046-8703-3A37-6C5B-D453DC736762}"/>
              </a:ext>
            </a:extLst>
          </p:cNvPr>
          <p:cNvSpPr txBox="1"/>
          <p:nvPr/>
        </p:nvSpPr>
        <p:spPr>
          <a:xfrm>
            <a:off x="3282632" y="5345480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4.1 - </a:t>
            </a:r>
            <a:r>
              <a:rPr sz="1100" b="0" i="1" dirty="0">
                <a:solidFill>
                  <a:srgbClr val="646464"/>
                </a:solidFill>
              </a:rPr>
              <a:t>Vue </a:t>
            </a:r>
            <a:r>
              <a:rPr sz="1100" b="0" i="1" dirty="0" err="1">
                <a:solidFill>
                  <a:srgbClr val="646464"/>
                </a:solidFill>
              </a:rPr>
              <a:t>d'ensemble</a:t>
            </a:r>
            <a:r>
              <a:rPr sz="1100" b="0" i="1" dirty="0">
                <a:solidFill>
                  <a:srgbClr val="646464"/>
                </a:solidFill>
              </a:rPr>
              <a:t> des </a:t>
            </a:r>
            <a:r>
              <a:rPr lang="fr-FR" sz="1100" b="0" i="1" dirty="0">
                <a:solidFill>
                  <a:srgbClr val="646464"/>
                </a:solidFill>
              </a:rPr>
              <a:t>comparatifs des algorithmes utilisés</a:t>
            </a:r>
            <a:endParaRPr sz="1100" b="0" i="1" dirty="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032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V. </a:t>
            </a:r>
            <a:r>
              <a:rPr sz="2400" b="1" i="0" dirty="0" err="1">
                <a:solidFill>
                  <a:srgbClr val="00468C"/>
                </a:solidFill>
              </a:rPr>
              <a:t>Analyse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sz="2400" b="1" i="0" dirty="0" err="1">
                <a:solidFill>
                  <a:srgbClr val="00468C"/>
                </a:solidFill>
              </a:rPr>
              <a:t>exploratoire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lang="fr-FR" sz="2400" b="1" i="0" dirty="0">
                <a:solidFill>
                  <a:srgbClr val="00468C"/>
                </a:solidFill>
              </a:rPr>
              <a:t>des données </a:t>
            </a:r>
            <a:r>
              <a:rPr sz="2400" b="1" i="0" dirty="0">
                <a:solidFill>
                  <a:srgbClr val="00468C"/>
                </a:solidFill>
              </a:rPr>
              <a:t>(EDA)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722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000" b="1" i="0" dirty="0">
                <a:solidFill>
                  <a:srgbClr val="00468C"/>
                </a:solidFill>
              </a:rPr>
              <a:t>Présentation générale du </a:t>
            </a:r>
            <a:r>
              <a:rPr lang="fr-FR" sz="2000" b="1" i="0" dirty="0" err="1">
                <a:solidFill>
                  <a:srgbClr val="00468C"/>
                </a:solidFill>
              </a:rPr>
              <a:t>dataset</a:t>
            </a:r>
            <a:endParaRPr sz="2000" b="1" i="0" dirty="0">
              <a:solidFill>
                <a:srgbClr val="00468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7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CFDAE716-32BC-C360-6FB6-9E1A1EC91955}"/>
              </a:ext>
            </a:extLst>
          </p:cNvPr>
          <p:cNvSpPr txBox="1"/>
          <p:nvPr/>
        </p:nvSpPr>
        <p:spPr>
          <a:xfrm>
            <a:off x="320040" y="1461008"/>
            <a:ext cx="1122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dirty="0"/>
              <a:t>Le jeu de données contient 100 000 observations décrites par 15 variables (l’identifiant id est exclu).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33B8665-8215-3479-8ABC-2C08D318B9D8}"/>
              </a:ext>
            </a:extLst>
          </p:cNvPr>
          <p:cNvSpPr txBox="1"/>
          <p:nvPr/>
        </p:nvSpPr>
        <p:spPr>
          <a:xfrm>
            <a:off x="320040" y="4525457"/>
            <a:ext cx="722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000" b="1" i="0" dirty="0">
                <a:solidFill>
                  <a:srgbClr val="00468C"/>
                </a:solidFill>
              </a:rPr>
              <a:t>Statistiques descriptives</a:t>
            </a:r>
            <a:endParaRPr sz="2000" b="1" i="0" dirty="0">
              <a:solidFill>
                <a:srgbClr val="00468C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449AA6E-6EF6-5670-5A10-57B4CFC3B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" y="5396992"/>
            <a:ext cx="4215740" cy="91668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3EC648C-0354-085E-6F2B-58E7BF7DB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4295023"/>
            <a:ext cx="5234287" cy="2242937"/>
          </a:xfrm>
          <a:prstGeom prst="rect">
            <a:avLst/>
          </a:prstGeom>
        </p:spPr>
      </p:pic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53203D30-E2A7-727E-311F-FD434561A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88874"/>
              </p:ext>
            </p:extLst>
          </p:nvPr>
        </p:nvGraphicFramePr>
        <p:xfrm>
          <a:off x="319976" y="2036886"/>
          <a:ext cx="11548872" cy="1752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3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323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Variables</a:t>
                      </a:r>
                    </a:p>
                  </a:txBody>
                  <a:tcPr>
                    <a:solidFill>
                      <a:srgbClr val="0046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23">
                <a:tc>
                  <a:txBody>
                    <a:bodyPr/>
                    <a:lstStyle/>
                    <a:p>
                      <a:pPr algn="l"/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Continues (10)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fr-FR" sz="1800" dirty="0" err="1"/>
                        <a:t>age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bmi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daily_steps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sleep_hours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cholesterol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systolic_bp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diastolic_bp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resting_hr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water_intake_l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calories_consumed</a:t>
                      </a:r>
                      <a:endParaRPr lang="fr-FR" sz="18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309">
                <a:tc>
                  <a:txBody>
                    <a:bodyPr/>
                    <a:lstStyle/>
                    <a:p>
                      <a:pPr algn="l"/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Binaires (4)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err="1"/>
                        <a:t>smoker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alcohol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family_history</a:t>
                      </a:r>
                      <a:r>
                        <a:rPr lang="fr-FR" sz="1800" dirty="0"/>
                        <a:t>, </a:t>
                      </a:r>
                      <a:r>
                        <a:rPr lang="fr-FR" sz="1800" dirty="0" err="1"/>
                        <a:t>disease_risk</a:t>
                      </a:r>
                      <a:endParaRPr lang="fr-FR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60">
                <a:tc>
                  <a:txBody>
                    <a:bodyPr/>
                    <a:lstStyle/>
                    <a:p>
                      <a:pPr algn="l"/>
                      <a:r>
                        <a:rPr lang="fr-FR" sz="1800" dirty="0">
                          <a:solidFill>
                            <a:srgbClr val="000000"/>
                          </a:solidFill>
                        </a:rPr>
                        <a:t>Catégorielle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err="1">
                          <a:solidFill>
                            <a:srgbClr val="000000"/>
                          </a:solidFill>
                        </a:rPr>
                        <a:t>gender</a:t>
                      </a:r>
                      <a:endParaRPr lang="fr-FR" sz="18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8">
            <a:extLst>
              <a:ext uri="{FF2B5EF4-FFF2-40B4-BE49-F238E27FC236}">
                <a16:creationId xmlns:a16="http://schemas.microsoft.com/office/drawing/2014/main" id="{D92F980D-DF7B-C395-38EF-39D86AB4C439}"/>
              </a:ext>
            </a:extLst>
          </p:cNvPr>
          <p:cNvSpPr txBox="1"/>
          <p:nvPr/>
        </p:nvSpPr>
        <p:spPr>
          <a:xfrm>
            <a:off x="315468" y="3972246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i="1" dirty="0">
                <a:solidFill>
                  <a:srgbClr val="646464"/>
                </a:solidFill>
              </a:rPr>
              <a:t>Table </a:t>
            </a:r>
            <a:r>
              <a:rPr lang="fr-FR" sz="1100" i="1" dirty="0">
                <a:solidFill>
                  <a:srgbClr val="646464"/>
                </a:solidFill>
              </a:rPr>
              <a:t>5</a:t>
            </a:r>
            <a:r>
              <a:rPr lang="fr-FR" sz="1100" b="0" i="1" dirty="0">
                <a:solidFill>
                  <a:srgbClr val="646464"/>
                </a:solidFill>
              </a:rPr>
              <a:t>.1 – Type de variables</a:t>
            </a:r>
            <a:endParaRPr sz="1100" b="0" i="1" dirty="0">
              <a:solidFill>
                <a:srgbClr val="646464"/>
              </a:solidFill>
            </a:endParaRP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360A1875-73AF-7BF7-DCE7-D4E7A39AFDD5}"/>
              </a:ext>
            </a:extLst>
          </p:cNvPr>
          <p:cNvSpPr txBox="1"/>
          <p:nvPr/>
        </p:nvSpPr>
        <p:spPr>
          <a:xfrm>
            <a:off x="5739818" y="4015488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</a:t>
            </a:r>
            <a:r>
              <a:rPr lang="fr-FR" sz="1100" i="1" dirty="0">
                <a:solidFill>
                  <a:srgbClr val="646464"/>
                </a:solidFill>
              </a:rPr>
              <a:t>5</a:t>
            </a:r>
            <a:r>
              <a:rPr lang="fr-FR" sz="1100" b="0" i="1" dirty="0">
                <a:solidFill>
                  <a:srgbClr val="646464"/>
                </a:solidFill>
              </a:rPr>
              <a:t>.2 – Statistiques descriptives des variables continues</a:t>
            </a:r>
            <a:endParaRPr sz="1100" b="0" i="1"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C17D-71B0-2627-FC4C-595BD14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B7336B-72F8-2E0A-83CF-9B0D1E6A6868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048EC-ADE0-EAF6-AA43-DC91A91ABFA1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V. </a:t>
            </a:r>
            <a:r>
              <a:rPr sz="2400" b="1" i="0" dirty="0" err="1">
                <a:solidFill>
                  <a:srgbClr val="00468C"/>
                </a:solidFill>
              </a:rPr>
              <a:t>Analyse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sz="2400" b="1" i="0" dirty="0" err="1">
                <a:solidFill>
                  <a:srgbClr val="00468C"/>
                </a:solidFill>
              </a:rPr>
              <a:t>exploratoire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lang="fr-FR" sz="2400" b="1" i="0" dirty="0">
                <a:solidFill>
                  <a:srgbClr val="00468C"/>
                </a:solidFill>
              </a:rPr>
              <a:t>des données </a:t>
            </a:r>
            <a:r>
              <a:rPr sz="2400" b="1" i="0" dirty="0">
                <a:solidFill>
                  <a:srgbClr val="00468C"/>
                </a:solidFill>
              </a:rPr>
              <a:t>(EDA)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D52B46-E170-EA93-70CC-49F4084D4DAE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FBF01-579C-4670-CF6A-B39EE051682A}"/>
              </a:ext>
            </a:extLst>
          </p:cNvPr>
          <p:cNvSpPr txBox="1"/>
          <p:nvPr/>
        </p:nvSpPr>
        <p:spPr>
          <a:xfrm>
            <a:off x="320038" y="950976"/>
            <a:ext cx="115487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468C"/>
                </a:solidFill>
              </a:rPr>
              <a:t>Distributions des variables continues</a:t>
            </a:r>
            <a:endParaRPr lang="fr-FR" sz="2000" b="1" i="0" dirty="0">
              <a:solidFill>
                <a:srgbClr val="00468C"/>
              </a:solidFill>
            </a:endParaRPr>
          </a:p>
          <a:p>
            <a:pPr algn="l"/>
            <a:endParaRPr lang="fr-FR" sz="2000" b="1" dirty="0">
              <a:solidFill>
                <a:srgbClr val="00468C"/>
              </a:solidFill>
            </a:endParaRPr>
          </a:p>
          <a:p>
            <a:r>
              <a:rPr lang="fr-FR" sz="2000" dirty="0"/>
              <a:t>Le </a:t>
            </a:r>
            <a:r>
              <a:rPr lang="fr-FR" sz="2000" dirty="0" err="1"/>
              <a:t>coeﬃcient</a:t>
            </a:r>
            <a:r>
              <a:rPr lang="fr-FR" sz="2000" dirty="0"/>
              <a:t> d’asymétrie (</a:t>
            </a:r>
            <a:r>
              <a:rPr lang="fr-FR" sz="2000" dirty="0" err="1"/>
              <a:t>skewness</a:t>
            </a:r>
            <a:r>
              <a:rPr lang="fr-FR" sz="2000" dirty="0"/>
              <a:t>) mesure la symétrie d’une distribution :</a:t>
            </a:r>
          </a:p>
          <a:p>
            <a:endParaRPr lang="fr-FR" sz="2000" dirty="0"/>
          </a:p>
          <a:p>
            <a:r>
              <a:rPr lang="fr-FR" sz="2000" dirty="0" err="1"/>
              <a:t>Skewness</a:t>
            </a:r>
            <a:r>
              <a:rPr lang="fr-FR" sz="2000" dirty="0"/>
              <a:t> &gt; 1 = distribution très asymétrique, biaise les modèles linéaires et nécessite une transformation log.</a:t>
            </a:r>
          </a:p>
        </p:txBody>
      </p:sp>
      <p:pic>
        <p:nvPicPr>
          <p:cNvPr id="6" name="Picture 5" descr="distributions_continues.png">
            <a:extLst>
              <a:ext uri="{FF2B5EF4-FFF2-40B4-BE49-F238E27FC236}">
                <a16:creationId xmlns:a16="http://schemas.microsoft.com/office/drawing/2014/main" id="{2C8013A9-4874-1262-1F45-E66DEBB1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00"/>
          <a:stretch>
            <a:fillRect/>
          </a:stretch>
        </p:blipFill>
        <p:spPr>
          <a:xfrm>
            <a:off x="320037" y="2757960"/>
            <a:ext cx="7434549" cy="36080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F53AE0-7C93-7DA9-B556-A84A7ECE379E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8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0F345E7-8F74-0282-155B-264BA98D3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558" y="1339489"/>
            <a:ext cx="3407229" cy="750487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5DBB411E-EB8A-7088-86D0-B10D81F9A125}"/>
              </a:ext>
            </a:extLst>
          </p:cNvPr>
          <p:cNvSpPr txBox="1"/>
          <p:nvPr/>
        </p:nvSpPr>
        <p:spPr>
          <a:xfrm>
            <a:off x="8181021" y="3183422"/>
            <a:ext cx="36877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Toutes les variables continues </a:t>
            </a:r>
            <a:r>
              <a:rPr lang="fr-FR" sz="1600" dirty="0" err="1"/>
              <a:t>aﬃchent</a:t>
            </a:r>
            <a:r>
              <a:rPr lang="fr-FR" sz="1600" dirty="0"/>
              <a:t> un </a:t>
            </a:r>
            <a:r>
              <a:rPr lang="fr-FR" sz="1600" b="1" dirty="0" err="1"/>
              <a:t>skewness</a:t>
            </a:r>
            <a:r>
              <a:rPr lang="fr-FR" sz="1600" b="1" dirty="0"/>
              <a:t> &lt; |0.02|</a:t>
            </a:r>
            <a:r>
              <a:rPr lang="fr-FR" sz="1600" dirty="0"/>
              <a:t> : </a:t>
            </a:r>
          </a:p>
          <a:p>
            <a:pPr algn="ctr"/>
            <a:r>
              <a:rPr lang="fr-FR" sz="1600" dirty="0"/>
              <a:t>distributions quasi-uniformes</a:t>
            </a:r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=&gt;</a:t>
            </a:r>
          </a:p>
          <a:p>
            <a:pPr algn="ctr"/>
            <a:endParaRPr lang="fr-FR" sz="1600" dirty="0"/>
          </a:p>
          <a:p>
            <a:pPr algn="ctr"/>
            <a:r>
              <a:rPr lang="fr-FR" sz="1600" b="1" dirty="0">
                <a:solidFill>
                  <a:srgbClr val="FF0000"/>
                </a:solidFill>
              </a:rPr>
              <a:t>Génération synthétique aléatoire des données</a:t>
            </a:r>
          </a:p>
          <a:p>
            <a:pPr algn="ctr"/>
            <a:endParaRPr lang="fr-FR" sz="1600" dirty="0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7B6BA52E-992B-E45F-5504-EA1992EE81C3}"/>
              </a:ext>
            </a:extLst>
          </p:cNvPr>
          <p:cNvSpPr txBox="1"/>
          <p:nvPr/>
        </p:nvSpPr>
        <p:spPr>
          <a:xfrm>
            <a:off x="1120138" y="6426905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i="1" dirty="0">
                <a:solidFill>
                  <a:srgbClr val="646464"/>
                </a:solidFill>
              </a:rPr>
              <a:t>Figure 5.1 – Distributions des variables continues du </a:t>
            </a:r>
            <a:r>
              <a:rPr lang="fr-FR" sz="1100" i="1" dirty="0" err="1">
                <a:solidFill>
                  <a:srgbClr val="646464"/>
                </a:solidFill>
              </a:rPr>
              <a:t>dataset</a:t>
            </a:r>
            <a:endParaRPr lang="fr-FR" sz="1100" i="1" dirty="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081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0CDD-29AE-82EB-EED3-8130E4B5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6F0A2-5B15-5AFD-4DEB-AFA3CF5EF449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BD3AB-C119-2DAA-E69B-796E6D29E478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V. </a:t>
            </a:r>
            <a:r>
              <a:rPr sz="2400" b="1" i="0" dirty="0" err="1">
                <a:solidFill>
                  <a:srgbClr val="00468C"/>
                </a:solidFill>
              </a:rPr>
              <a:t>Analyse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sz="2400" b="1" i="0" dirty="0" err="1">
                <a:solidFill>
                  <a:srgbClr val="00468C"/>
                </a:solidFill>
              </a:rPr>
              <a:t>exploratoire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lang="fr-FR" sz="2400" b="1" i="0" dirty="0">
                <a:solidFill>
                  <a:srgbClr val="00468C"/>
                </a:solidFill>
              </a:rPr>
              <a:t>des données </a:t>
            </a:r>
            <a:r>
              <a:rPr sz="2400" b="1" i="0" dirty="0">
                <a:solidFill>
                  <a:srgbClr val="00468C"/>
                </a:solidFill>
              </a:rPr>
              <a:t>(EDA)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782BB-918F-E6E4-CC2D-619425B296EE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88219-7CDA-F690-119A-D447E21E2372}"/>
              </a:ext>
            </a:extLst>
          </p:cNvPr>
          <p:cNvSpPr txBox="1"/>
          <p:nvPr/>
        </p:nvSpPr>
        <p:spPr>
          <a:xfrm>
            <a:off x="6425157" y="2110565"/>
            <a:ext cx="5123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FF0000"/>
                </a:solidFill>
              </a:rPr>
              <a:t>Résultat</a:t>
            </a:r>
            <a:r>
              <a:rPr b="1" i="0" dirty="0">
                <a:solidFill>
                  <a:srgbClr val="FF0000"/>
                </a:solidFill>
              </a:rPr>
              <a:t> central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E1033D-7F65-9930-B189-2454137042E9}"/>
              </a:ext>
            </a:extLst>
          </p:cNvPr>
          <p:cNvSpPr txBox="1"/>
          <p:nvPr/>
        </p:nvSpPr>
        <p:spPr>
          <a:xfrm>
            <a:off x="6425157" y="2589516"/>
            <a:ext cx="54437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0" i="0" dirty="0">
                <a:solidFill>
                  <a:srgbClr val="000000"/>
                </a:solidFill>
              </a:rPr>
              <a:t>Toutes</a:t>
            </a:r>
            <a:r>
              <a:rPr b="0" i="0" dirty="0">
                <a:solidFill>
                  <a:srgbClr val="000000"/>
                </a:solidFill>
              </a:rPr>
              <a:t> les </a:t>
            </a:r>
            <a:r>
              <a:rPr b="0" i="0" dirty="0" err="1">
                <a:solidFill>
                  <a:srgbClr val="000000"/>
                </a:solidFill>
              </a:rPr>
              <a:t>corrélations</a:t>
            </a:r>
            <a:r>
              <a:rPr b="0" i="0" dirty="0">
                <a:solidFill>
                  <a:srgbClr val="000000"/>
                </a:solidFill>
              </a:rPr>
              <a:t> &lt; |0.01|</a:t>
            </a:r>
            <a:endParaRPr lang="fr-FR" b="0" i="0" dirty="0">
              <a:solidFill>
                <a:srgbClr val="000000"/>
              </a:solidFill>
            </a:endParaRPr>
          </a:p>
          <a:p>
            <a:pPr algn="l"/>
            <a:endParaRPr lang="fr-FR" dirty="0">
              <a:solidFill>
                <a:srgbClr val="000000"/>
              </a:solidFill>
            </a:endParaRPr>
          </a:p>
          <a:p>
            <a:pPr algn="l"/>
            <a:r>
              <a:rPr b="0" i="0" dirty="0">
                <a:solidFill>
                  <a:srgbClr val="000000"/>
                </a:solidFill>
              </a:rPr>
              <a:t>La plus </a:t>
            </a:r>
            <a:r>
              <a:rPr b="0" i="0" dirty="0" err="1">
                <a:solidFill>
                  <a:srgbClr val="000000"/>
                </a:solidFill>
              </a:rPr>
              <a:t>élevée</a:t>
            </a:r>
            <a:r>
              <a:rPr b="0" i="0" dirty="0">
                <a:solidFill>
                  <a:srgbClr val="000000"/>
                </a:solidFill>
              </a:rPr>
              <a:t> avec </a:t>
            </a:r>
            <a:r>
              <a:rPr b="0" i="0" dirty="0" err="1">
                <a:solidFill>
                  <a:srgbClr val="000000"/>
                </a:solidFill>
              </a:rPr>
              <a:t>disease_risk</a:t>
            </a:r>
            <a:r>
              <a:rPr b="0" i="0" dirty="0">
                <a:solidFill>
                  <a:srgbClr val="000000"/>
                </a:solidFill>
              </a:rPr>
              <a:t> : </a:t>
            </a:r>
            <a:r>
              <a:rPr b="0" i="0" dirty="0" err="1">
                <a:solidFill>
                  <a:srgbClr val="000000"/>
                </a:solidFill>
              </a:rPr>
              <a:t>resting_hr</a:t>
            </a:r>
            <a:r>
              <a:rPr b="0" i="0" dirty="0">
                <a:solidFill>
                  <a:srgbClr val="000000"/>
                </a:solidFill>
              </a:rPr>
              <a:t> avec r= 0.0</a:t>
            </a:r>
            <a:r>
              <a:rPr lang="fr-FR" b="0" i="0" dirty="0">
                <a:solidFill>
                  <a:srgbClr val="000000"/>
                </a:solidFill>
              </a:rPr>
              <a:t>1</a:t>
            </a:r>
            <a:r>
              <a:rPr b="0" i="0" dirty="0">
                <a:solidFill>
                  <a:srgbClr val="000000"/>
                </a:solidFill>
              </a:rPr>
              <a:t> (non </a:t>
            </a:r>
            <a:r>
              <a:rPr b="0" i="0" dirty="0" err="1">
                <a:solidFill>
                  <a:srgbClr val="000000"/>
                </a:solidFill>
              </a:rPr>
              <a:t>significatif</a:t>
            </a:r>
            <a:r>
              <a:rPr b="0" i="0" dirty="0">
                <a:solidFill>
                  <a:srgbClr val="000000"/>
                </a:solidFill>
              </a:rPr>
              <a:t> sur 100 000 </a:t>
            </a:r>
            <a:r>
              <a:rPr b="0" i="0" dirty="0" err="1">
                <a:solidFill>
                  <a:srgbClr val="000000"/>
                </a:solidFill>
              </a:rPr>
              <a:t>individus</a:t>
            </a:r>
            <a:r>
              <a:rPr b="0" i="0" dirty="0">
                <a:solidFill>
                  <a:srgbClr val="000000"/>
                </a:solidFill>
              </a:rPr>
              <a:t>)</a:t>
            </a:r>
            <a:endParaRPr lang="fr-FR" b="0" i="0" dirty="0">
              <a:solidFill>
                <a:srgbClr val="000000"/>
              </a:solidFill>
            </a:endParaRPr>
          </a:p>
          <a:p>
            <a:pPr algn="l"/>
            <a:endParaRPr lang="fr-FR" b="0" i="0" dirty="0">
              <a:solidFill>
                <a:srgbClr val="000000"/>
              </a:solidFill>
            </a:endParaRPr>
          </a:p>
          <a:p>
            <a:pPr algn="ctr"/>
            <a:r>
              <a:rPr b="1" i="0" dirty="0" err="1">
                <a:solidFill>
                  <a:srgbClr val="FF0000"/>
                </a:solidFill>
              </a:rPr>
              <a:t>disease_risk</a:t>
            </a:r>
            <a:r>
              <a:rPr b="1" i="0" dirty="0">
                <a:solidFill>
                  <a:srgbClr val="FF0000"/>
                </a:solidFill>
              </a:rPr>
              <a:t> </a:t>
            </a:r>
            <a:r>
              <a:rPr b="1" i="0" dirty="0" err="1">
                <a:solidFill>
                  <a:srgbClr val="FF0000"/>
                </a:solidFill>
              </a:rPr>
              <a:t>généré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b="1" i="0" dirty="0" err="1">
                <a:solidFill>
                  <a:srgbClr val="FF0000"/>
                </a:solidFill>
              </a:rPr>
              <a:t>indépendamment</a:t>
            </a:r>
            <a:r>
              <a:rPr b="1" i="0" dirty="0">
                <a:solidFill>
                  <a:srgbClr val="FF0000"/>
                </a:solidFill>
              </a:rPr>
              <a:t> 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E97B06-D505-70A5-F172-0C60BC50A179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9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941AB86-94C4-6671-0A79-1F618277F34A}"/>
              </a:ext>
            </a:extLst>
          </p:cNvPr>
          <p:cNvSpPr txBox="1"/>
          <p:nvPr/>
        </p:nvSpPr>
        <p:spPr>
          <a:xfrm>
            <a:off x="320040" y="1003808"/>
            <a:ext cx="2774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00468C"/>
                </a:solidFill>
              </a:rPr>
              <a:t>Analyse des corrélations</a:t>
            </a:r>
            <a:endParaRPr lang="fr-FR" sz="20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29B8D54-35E1-92AA-F650-40EC8C9B53D8}"/>
              </a:ext>
            </a:extLst>
          </p:cNvPr>
          <p:cNvSpPr txBox="1"/>
          <p:nvPr/>
        </p:nvSpPr>
        <p:spPr>
          <a:xfrm>
            <a:off x="320040" y="1418860"/>
            <a:ext cx="659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</a:t>
            </a:r>
            <a:r>
              <a:rPr lang="fr-FR" dirty="0" err="1"/>
              <a:t>coeﬃcient</a:t>
            </a:r>
            <a:r>
              <a:rPr lang="fr-FR" dirty="0"/>
              <a:t> de corrélation de Pearson entre deux variables X et Y : </a:t>
            </a:r>
          </a:p>
        </p:txBody>
      </p:sp>
      <p:pic>
        <p:nvPicPr>
          <p:cNvPr id="18" name="Picture 9" descr="correlation_matrix.png">
            <a:extLst>
              <a:ext uri="{FF2B5EF4-FFF2-40B4-BE49-F238E27FC236}">
                <a16:creationId xmlns:a16="http://schemas.microsoft.com/office/drawing/2014/main" id="{A267B60A-7845-09E1-4976-D5D59938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96" r="2819"/>
          <a:stretch>
            <a:fillRect/>
          </a:stretch>
        </p:blipFill>
        <p:spPr>
          <a:xfrm>
            <a:off x="319912" y="1910112"/>
            <a:ext cx="5774500" cy="460244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21032894-3B00-218C-10B2-317B2D84C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524" y="1236884"/>
            <a:ext cx="3429908" cy="764062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C6588EDF-ABF8-ED81-A256-9A5844550583}"/>
              </a:ext>
            </a:extLst>
          </p:cNvPr>
          <p:cNvSpPr txBox="1"/>
          <p:nvPr/>
        </p:nvSpPr>
        <p:spPr>
          <a:xfrm>
            <a:off x="283250" y="6512560"/>
            <a:ext cx="5623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i="1" dirty="0">
                <a:solidFill>
                  <a:srgbClr val="646464"/>
                </a:solidFill>
              </a:rPr>
              <a:t>Figure 5.2 – Matrice de corrélation de Pearson entre toutes les variables du </a:t>
            </a:r>
            <a:r>
              <a:rPr lang="fr-FR" sz="1100" i="1" dirty="0" err="1">
                <a:solidFill>
                  <a:srgbClr val="646464"/>
                </a:solidFill>
              </a:rPr>
              <a:t>dataset</a:t>
            </a:r>
            <a:endParaRPr lang="fr-FR" sz="1100" i="1" dirty="0">
              <a:solidFill>
                <a:srgbClr val="646464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4375BC5-A847-9525-D866-D11D416ED195}"/>
              </a:ext>
            </a:extLst>
          </p:cNvPr>
          <p:cNvSpPr txBox="1"/>
          <p:nvPr/>
        </p:nvSpPr>
        <p:spPr>
          <a:xfrm>
            <a:off x="7380760" y="5145958"/>
            <a:ext cx="4488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</a:rPr>
              <a:t>Méthodes non-linéaires : Random Forest ou </a:t>
            </a:r>
            <a:r>
              <a:rPr lang="fr-FR" sz="1200" dirty="0" err="1">
                <a:solidFill>
                  <a:srgbClr val="000000"/>
                </a:solidFill>
              </a:rPr>
              <a:t>XGBoost</a:t>
            </a:r>
            <a:r>
              <a:rPr lang="fr-FR" sz="1200" dirty="0">
                <a:solidFill>
                  <a:srgbClr val="000000"/>
                </a:solidFill>
              </a:rPr>
              <a:t> : </a:t>
            </a:r>
          </a:p>
          <a:p>
            <a:endParaRPr lang="fr-FR" sz="1200" dirty="0">
              <a:solidFill>
                <a:srgbClr val="00000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rgbClr val="000000"/>
                </a:solidFill>
              </a:rPr>
              <a:t>peuvent théoriquement capturer des relations plus complexes</a:t>
            </a:r>
          </a:p>
          <a:p>
            <a:pPr marL="285750" indent="-285750">
              <a:buFontTx/>
              <a:buChar char="-"/>
            </a:pPr>
            <a:r>
              <a:rPr lang="fr-FR" sz="1200" dirty="0">
                <a:solidFill>
                  <a:srgbClr val="000000"/>
                </a:solidFill>
              </a:rPr>
              <a:t>échoueront même</a:t>
            </a:r>
            <a:r>
              <a:rPr lang="fr-FR" sz="1200" b="1" dirty="0">
                <a:solidFill>
                  <a:srgbClr val="000000"/>
                </a:solidFill>
              </a:rPr>
              <a:t> </a:t>
            </a:r>
            <a:r>
              <a:rPr lang="fr-FR" sz="1200" dirty="0">
                <a:solidFill>
                  <a:srgbClr val="000000"/>
                </a:solidFill>
              </a:rPr>
              <a:t>ici, ce qui confirme l’absence totale de signal.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DDDBE56-3701-B50A-23A5-F4877DE9825D}"/>
              </a:ext>
            </a:extLst>
          </p:cNvPr>
          <p:cNvSpPr txBox="1"/>
          <p:nvPr/>
        </p:nvSpPr>
        <p:spPr>
          <a:xfrm>
            <a:off x="6697683" y="5207513"/>
            <a:ext cx="926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1879227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9225-9A0A-1879-9F6A-B2B0F255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BFD66-D189-4E15-1123-2622D1C5DD3D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A0E5F-5E81-C98E-297F-BECE3A023137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V. </a:t>
            </a:r>
            <a:r>
              <a:rPr sz="2400" b="1" i="0" dirty="0" err="1">
                <a:solidFill>
                  <a:srgbClr val="00468C"/>
                </a:solidFill>
              </a:rPr>
              <a:t>Analyse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sz="2400" b="1" i="0" dirty="0" err="1">
                <a:solidFill>
                  <a:srgbClr val="00468C"/>
                </a:solidFill>
              </a:rPr>
              <a:t>exploratoire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lang="fr-FR" sz="2400" b="1" i="0" dirty="0">
                <a:solidFill>
                  <a:srgbClr val="00468C"/>
                </a:solidFill>
              </a:rPr>
              <a:t>des données </a:t>
            </a:r>
            <a:r>
              <a:rPr sz="2400" b="1" i="0" dirty="0">
                <a:solidFill>
                  <a:srgbClr val="00468C"/>
                </a:solidFill>
              </a:rPr>
              <a:t>(EDA)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B31A3-A710-16C8-8171-DF1931B566E8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BA070-79BE-B6A9-3B8C-AD97A94BFC91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10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0FA313B-E55E-A416-B788-FEBA203672D2}"/>
              </a:ext>
            </a:extLst>
          </p:cNvPr>
          <p:cNvSpPr txBox="1"/>
          <p:nvPr/>
        </p:nvSpPr>
        <p:spPr>
          <a:xfrm>
            <a:off x="345440" y="1003808"/>
            <a:ext cx="11523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disease_risk</a:t>
            </a:r>
            <a:r>
              <a:rPr lang="fr-FR" dirty="0"/>
              <a:t> présente un déséquilibre des classes  : 75.2% sont sans risque contre seulement 24.8% à risque.</a:t>
            </a:r>
          </a:p>
          <a:p>
            <a:r>
              <a:rPr lang="fr-FR" dirty="0"/>
              <a:t> </a:t>
            </a:r>
          </a:p>
          <a:p>
            <a:r>
              <a:rPr lang="fr-FR" b="1" dirty="0">
                <a:solidFill>
                  <a:srgbClr val="FF0000"/>
                </a:solidFill>
              </a:rPr>
              <a:t>Problème : </a:t>
            </a:r>
            <a:r>
              <a:rPr lang="fr-FR" dirty="0"/>
              <a:t>un modèle naïf qui prédit toujours "sans risque" obtient déjà 75% d’</a:t>
            </a:r>
            <a:r>
              <a:rPr lang="fr-FR" dirty="0" err="1"/>
              <a:t>accuracy</a:t>
            </a:r>
            <a:r>
              <a:rPr lang="fr-FR" dirty="0"/>
              <a:t> — sans avoir rien appris.</a:t>
            </a:r>
          </a:p>
          <a:p>
            <a:r>
              <a:rPr lang="fr-FR" b="1" dirty="0">
                <a:solidFill>
                  <a:schemeClr val="tx2"/>
                </a:solidFill>
              </a:rPr>
              <a:t>Solution : </a:t>
            </a:r>
            <a:r>
              <a:rPr lang="fr-FR" dirty="0"/>
              <a:t>on privilégie le F1-score, la précision, le rappel et l’AUC-ROC capables de détecter les deux classes.</a:t>
            </a:r>
          </a:p>
        </p:txBody>
      </p:sp>
      <p:pic>
        <p:nvPicPr>
          <p:cNvPr id="16" name="Picture 6" descr="disease_risk_distribution.png">
            <a:extLst>
              <a:ext uri="{FF2B5EF4-FFF2-40B4-BE49-F238E27FC236}">
                <a16:creationId xmlns:a16="http://schemas.microsoft.com/office/drawing/2014/main" id="{50705928-4703-7CF8-D477-22E6E115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69" b="-2508"/>
          <a:stretch>
            <a:fillRect/>
          </a:stretch>
        </p:blipFill>
        <p:spPr>
          <a:xfrm>
            <a:off x="320040" y="2505440"/>
            <a:ext cx="5405511" cy="3745510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3617B7A5-9D37-72C3-2566-5F00459F9CA0}"/>
              </a:ext>
            </a:extLst>
          </p:cNvPr>
          <p:cNvSpPr txBox="1"/>
          <p:nvPr/>
        </p:nvSpPr>
        <p:spPr>
          <a:xfrm>
            <a:off x="320040" y="6276350"/>
            <a:ext cx="5989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Figure 5.3 - </a:t>
            </a:r>
            <a:r>
              <a:rPr sz="1100" b="0" i="1" dirty="0" err="1">
                <a:solidFill>
                  <a:srgbClr val="646464"/>
                </a:solidFill>
              </a:rPr>
              <a:t>Déséquilibre</a:t>
            </a:r>
            <a:r>
              <a:rPr sz="1100" b="0" i="1" dirty="0">
                <a:solidFill>
                  <a:srgbClr val="646464"/>
                </a:solidFill>
              </a:rPr>
              <a:t> 75% / 25%  — un </a:t>
            </a:r>
            <a:r>
              <a:rPr sz="1100" b="0" i="1" dirty="0" err="1">
                <a:solidFill>
                  <a:srgbClr val="646464"/>
                </a:solidFill>
              </a:rPr>
              <a:t>modèle</a:t>
            </a:r>
            <a:r>
              <a:rPr sz="1100" b="0" i="1" dirty="0">
                <a:solidFill>
                  <a:srgbClr val="646464"/>
                </a:solidFill>
              </a:rPr>
              <a:t> naïf </a:t>
            </a:r>
            <a:r>
              <a:rPr sz="1100" b="0" i="1" dirty="0" err="1">
                <a:solidFill>
                  <a:srgbClr val="646464"/>
                </a:solidFill>
              </a:rPr>
              <a:t>atteint</a:t>
            </a:r>
            <a:r>
              <a:rPr sz="1100" b="0" i="1" dirty="0">
                <a:solidFill>
                  <a:srgbClr val="646464"/>
                </a:solidFill>
              </a:rPr>
              <a:t> 75% </a:t>
            </a:r>
            <a:r>
              <a:rPr sz="1100" b="0" i="1" dirty="0" err="1">
                <a:solidFill>
                  <a:srgbClr val="646464"/>
                </a:solidFill>
              </a:rPr>
              <a:t>d'accuracy</a:t>
            </a:r>
            <a:r>
              <a:rPr sz="1100" b="0" i="1" dirty="0">
                <a:solidFill>
                  <a:srgbClr val="646464"/>
                </a:solidFill>
              </a:rPr>
              <a:t> sans rien </a:t>
            </a:r>
            <a:r>
              <a:rPr sz="1100" b="0" i="1" dirty="0" err="1">
                <a:solidFill>
                  <a:srgbClr val="646464"/>
                </a:solidFill>
              </a:rPr>
              <a:t>apprendre</a:t>
            </a:r>
            <a:endParaRPr sz="1100" b="0" i="1" dirty="0">
              <a:solidFill>
                <a:srgbClr val="646464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1F7FAD6-E5CC-8A16-3E9A-9555953D4338}"/>
              </a:ext>
            </a:extLst>
          </p:cNvPr>
          <p:cNvSpPr txBox="1"/>
          <p:nvPr/>
        </p:nvSpPr>
        <p:spPr>
          <a:xfrm>
            <a:off x="6107176" y="2633482"/>
            <a:ext cx="151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468C"/>
                </a:solidFill>
              </a:rPr>
              <a:t>Bilan de l’EDA</a:t>
            </a:r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9DB60D9-3F9E-B83E-539E-633B21AC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673" y="3067787"/>
            <a:ext cx="5280636" cy="1709188"/>
          </a:xfrm>
          <a:prstGeom prst="rect">
            <a:avLst/>
          </a:prstGeom>
        </p:spPr>
      </p:pic>
      <p:sp>
        <p:nvSpPr>
          <p:cNvPr id="20" name="TextBox 8">
            <a:extLst>
              <a:ext uri="{FF2B5EF4-FFF2-40B4-BE49-F238E27FC236}">
                <a16:creationId xmlns:a16="http://schemas.microsoft.com/office/drawing/2014/main" id="{87735F70-46DE-C2C9-0815-C474C896D332}"/>
              </a:ext>
            </a:extLst>
          </p:cNvPr>
          <p:cNvSpPr txBox="1"/>
          <p:nvPr/>
        </p:nvSpPr>
        <p:spPr>
          <a:xfrm>
            <a:off x="5853211" y="4981668"/>
            <a:ext cx="5623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</a:t>
            </a:r>
            <a:r>
              <a:rPr lang="fr-FR" sz="1100" i="1" dirty="0">
                <a:solidFill>
                  <a:srgbClr val="646464"/>
                </a:solidFill>
              </a:rPr>
              <a:t>5</a:t>
            </a:r>
            <a:r>
              <a:rPr lang="fr-FR" sz="1100" b="0" i="1" dirty="0">
                <a:solidFill>
                  <a:srgbClr val="646464"/>
                </a:solidFill>
              </a:rPr>
              <a:t>.3 – Bilan de l’analyse exploratoire</a:t>
            </a:r>
          </a:p>
          <a:p>
            <a:pPr algn="ctr"/>
            <a:endParaRPr sz="1100" b="0" i="1" dirty="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79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VI. </a:t>
            </a:r>
            <a:r>
              <a:rPr sz="2400" b="1" i="0" dirty="0">
                <a:solidFill>
                  <a:srgbClr val="00468C"/>
                </a:solidFill>
              </a:rP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50976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0468C"/>
                </a:solidFill>
              </a:rPr>
              <a:t>Encodage</a:t>
            </a:r>
            <a:r>
              <a:rPr sz="2000" b="1" dirty="0">
                <a:solidFill>
                  <a:srgbClr val="00468C"/>
                </a:solidFill>
              </a:rPr>
              <a:t> des variables </a:t>
            </a:r>
            <a:r>
              <a:rPr sz="2000" b="1" dirty="0" err="1">
                <a:solidFill>
                  <a:srgbClr val="00468C"/>
                </a:solidFill>
              </a:rPr>
              <a:t>catégorielles</a:t>
            </a:r>
            <a:endParaRPr sz="2000" b="1" dirty="0">
              <a:solidFill>
                <a:srgbClr val="00468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47" y="2347046"/>
            <a:ext cx="114750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468C"/>
                </a:solidFill>
              </a:rPr>
              <a:t>3 variables métier </a:t>
            </a:r>
            <a:r>
              <a:rPr sz="2000" b="1" dirty="0" err="1">
                <a:solidFill>
                  <a:srgbClr val="00468C"/>
                </a:solidFill>
              </a:rPr>
              <a:t>créées</a:t>
            </a:r>
            <a:r>
              <a:rPr sz="2000" b="1" dirty="0">
                <a:solidFill>
                  <a:srgbClr val="00468C"/>
                </a:solidFill>
              </a:rPr>
              <a:t> à </a:t>
            </a:r>
            <a:r>
              <a:rPr sz="2000" b="1" dirty="0" err="1">
                <a:solidFill>
                  <a:srgbClr val="00468C"/>
                </a:solidFill>
              </a:rPr>
              <a:t>partir</a:t>
            </a:r>
            <a:r>
              <a:rPr sz="2000" b="1" dirty="0">
                <a:solidFill>
                  <a:srgbClr val="00468C"/>
                </a:solidFill>
              </a:rPr>
              <a:t> des </a:t>
            </a:r>
            <a:r>
              <a:rPr sz="2000" b="1" dirty="0" err="1">
                <a:solidFill>
                  <a:srgbClr val="00468C"/>
                </a:solidFill>
              </a:rPr>
              <a:t>connaissances</a:t>
            </a:r>
            <a:r>
              <a:rPr sz="2000" b="1" dirty="0">
                <a:solidFill>
                  <a:srgbClr val="00468C"/>
                </a:solidFill>
              </a:rPr>
              <a:t> </a:t>
            </a:r>
            <a:r>
              <a:rPr sz="2000" b="1" dirty="0" err="1">
                <a:solidFill>
                  <a:srgbClr val="00468C"/>
                </a:solidFill>
              </a:rPr>
              <a:t>médicales</a:t>
            </a:r>
            <a:endParaRPr lang="fr-FR" sz="2000" b="1" dirty="0">
              <a:solidFill>
                <a:srgbClr val="00468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11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95EEE4C-6E63-2761-A80E-32D1E8AB8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7" y="1463536"/>
            <a:ext cx="3396939" cy="71161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5923815-1238-8D4C-219F-4E4D3B608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3181032"/>
            <a:ext cx="5321300" cy="7112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4B726F2-4EFC-1787-B070-F561F943D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357" y="2664447"/>
            <a:ext cx="3416300" cy="137160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B3DA871-AB5E-F345-ACDB-82BDCC213F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9486"/>
          <a:stretch>
            <a:fillRect/>
          </a:stretch>
        </p:blipFill>
        <p:spPr>
          <a:xfrm>
            <a:off x="830677" y="4477334"/>
            <a:ext cx="5623559" cy="555688"/>
          </a:xfrm>
          <a:prstGeom prst="rect">
            <a:avLst/>
          </a:prstGeom>
        </p:spPr>
      </p:pic>
      <p:sp>
        <p:nvSpPr>
          <p:cNvPr id="25" name="TextBox 8">
            <a:extLst>
              <a:ext uri="{FF2B5EF4-FFF2-40B4-BE49-F238E27FC236}">
                <a16:creationId xmlns:a16="http://schemas.microsoft.com/office/drawing/2014/main" id="{7CA8463B-3744-1A02-4B56-7FA675D0D560}"/>
              </a:ext>
            </a:extLst>
          </p:cNvPr>
          <p:cNvSpPr txBox="1"/>
          <p:nvPr/>
        </p:nvSpPr>
        <p:spPr>
          <a:xfrm>
            <a:off x="168909" y="4062019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i="1" dirty="0">
                <a:solidFill>
                  <a:srgbClr val="646464"/>
                </a:solidFill>
              </a:rPr>
              <a:t>Seuil ESC : </a:t>
            </a:r>
            <a:r>
              <a:rPr lang="fr-FR" sz="1200" i="1" dirty="0" err="1">
                <a:solidFill>
                  <a:srgbClr val="505050"/>
                </a:solidFill>
              </a:rPr>
              <a:t>European</a:t>
            </a:r>
            <a:r>
              <a:rPr lang="fr-FR" sz="1200" i="1" dirty="0">
                <a:solidFill>
                  <a:srgbClr val="505050"/>
                </a:solidFill>
              </a:rPr>
              <a:t> Society of </a:t>
            </a:r>
            <a:r>
              <a:rPr lang="fr-FR" sz="1200" i="1" dirty="0" err="1">
                <a:solidFill>
                  <a:srgbClr val="505050"/>
                </a:solidFill>
              </a:rPr>
              <a:t>Cardiology</a:t>
            </a:r>
            <a:r>
              <a:rPr lang="fr-FR" sz="1200" i="1" dirty="0">
                <a:solidFill>
                  <a:srgbClr val="646464"/>
                </a:solidFill>
              </a:rPr>
              <a:t>  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86ADDAFC-8F4E-FB6D-B3D4-AF674CAD59AD}"/>
              </a:ext>
            </a:extLst>
          </p:cNvPr>
          <p:cNvSpPr txBox="1"/>
          <p:nvPr/>
        </p:nvSpPr>
        <p:spPr>
          <a:xfrm>
            <a:off x="6693727" y="4062018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i="1" dirty="0">
                <a:solidFill>
                  <a:srgbClr val="646464"/>
                </a:solidFill>
              </a:rPr>
              <a:t>Seuil </a:t>
            </a:r>
            <a:r>
              <a:rPr lang="fr-FR" sz="1200" i="1" dirty="0">
                <a:solidFill>
                  <a:srgbClr val="505050"/>
                </a:solidFill>
              </a:rPr>
              <a:t>OMS : Organisation Mondiale de la Santé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F92865DE-3C70-887F-F460-FBBF9D6F2C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735" t="43597" b="37329"/>
          <a:stretch>
            <a:fillRect/>
          </a:stretch>
        </p:blipFill>
        <p:spPr>
          <a:xfrm>
            <a:off x="6454236" y="4708470"/>
            <a:ext cx="3899672" cy="26161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9A32898E-7310-535D-F3E1-28ED195B4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735" t="58934"/>
          <a:stretch>
            <a:fillRect/>
          </a:stretch>
        </p:blipFill>
        <p:spPr>
          <a:xfrm>
            <a:off x="8152120" y="4557643"/>
            <a:ext cx="3899672" cy="563264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9BD34B3B-4E4E-01BC-D0F4-EFB2D643C7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586" b="32392"/>
          <a:stretch>
            <a:fillRect/>
          </a:stretch>
        </p:blipFill>
        <p:spPr>
          <a:xfrm>
            <a:off x="5346176" y="1005519"/>
            <a:ext cx="5094514" cy="792472"/>
          </a:xfrm>
          <a:prstGeom prst="rect">
            <a:avLst/>
          </a:prstGeom>
        </p:spPr>
      </p:pic>
      <p:sp>
        <p:nvSpPr>
          <p:cNvPr id="36" name="TextBox 8">
            <a:extLst>
              <a:ext uri="{FF2B5EF4-FFF2-40B4-BE49-F238E27FC236}">
                <a16:creationId xmlns:a16="http://schemas.microsoft.com/office/drawing/2014/main" id="{282E1EAA-A2FF-CC43-C803-75CE8EDFD39C}"/>
              </a:ext>
            </a:extLst>
          </p:cNvPr>
          <p:cNvSpPr txBox="1"/>
          <p:nvPr/>
        </p:nvSpPr>
        <p:spPr>
          <a:xfrm>
            <a:off x="5081653" y="1872228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i="1" dirty="0">
                <a:solidFill>
                  <a:srgbClr val="505050"/>
                </a:solidFill>
              </a:rPr>
              <a:t>Variable temporaire, dérivée de la variable cible, créée pour le clustering</a:t>
            </a:r>
            <a:r>
              <a:rPr lang="fr-FR" sz="1200" i="1" dirty="0">
                <a:solidFill>
                  <a:srgbClr val="646464"/>
                </a:solidFill>
              </a:rPr>
              <a:t>  </a:t>
            </a: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C20C5FAB-E1F6-E9C6-3574-708A2819B1D4}"/>
              </a:ext>
            </a:extLst>
          </p:cNvPr>
          <p:cNvSpPr txBox="1"/>
          <p:nvPr/>
        </p:nvSpPr>
        <p:spPr>
          <a:xfrm>
            <a:off x="320037" y="5309654"/>
            <a:ext cx="11480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i="1" dirty="0">
                <a:solidFill>
                  <a:srgbClr val="646464"/>
                </a:solidFill>
              </a:rPr>
              <a:t>Score </a:t>
            </a:r>
            <a:r>
              <a:rPr lang="fr-FR" sz="1400" i="1" dirty="0">
                <a:solidFill>
                  <a:srgbClr val="505050"/>
                </a:solidFill>
              </a:rPr>
              <a:t>composite heuristique où chaque variable continue est divisée par son maximum pour la ramener entre 0 et 1, ce qui évite qu’une variable à grande échelle (comme </a:t>
            </a:r>
            <a:r>
              <a:rPr lang="fr-FR" sz="1400" i="1" dirty="0" err="1">
                <a:solidFill>
                  <a:srgbClr val="505050"/>
                </a:solidFill>
              </a:rPr>
              <a:t>daily_steps</a:t>
            </a:r>
            <a:r>
              <a:rPr lang="fr-FR" sz="1400" i="1" dirty="0">
                <a:solidFill>
                  <a:srgbClr val="505050"/>
                </a:solidFill>
              </a:rPr>
              <a:t>, jusqu’à 20 000) domine une variable à petite échelle (comme </a:t>
            </a:r>
            <a:r>
              <a:rPr lang="fr-FR" sz="1400" i="1" dirty="0" err="1">
                <a:solidFill>
                  <a:srgbClr val="505050"/>
                </a:solidFill>
              </a:rPr>
              <a:t>sleep_hours</a:t>
            </a:r>
            <a:r>
              <a:rPr lang="fr-FR" sz="1400" i="1" dirty="0">
                <a:solidFill>
                  <a:srgbClr val="505050"/>
                </a:solidFill>
              </a:rPr>
              <a:t>, entre 3 et 10).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15D6DA6-F37D-6AF3-9CCA-A2EABB81C568}"/>
              </a:ext>
            </a:extLst>
          </p:cNvPr>
          <p:cNvSpPr txBox="1"/>
          <p:nvPr/>
        </p:nvSpPr>
        <p:spPr>
          <a:xfrm>
            <a:off x="613476" y="6014465"/>
            <a:ext cx="109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Termes positifs = </a:t>
            </a:r>
            <a:r>
              <a:rPr lang="fr-FR" dirty="0"/>
              <a:t>comportements bénéfiques pour la santé | </a:t>
            </a:r>
            <a:r>
              <a:rPr lang="fr-FR" b="1" dirty="0">
                <a:solidFill>
                  <a:srgbClr val="FF0000"/>
                </a:solidFill>
              </a:rPr>
              <a:t>Termes négatifs = </a:t>
            </a:r>
            <a:r>
              <a:rPr lang="fr-FR" dirty="0"/>
              <a:t>facteurs </a:t>
            </a:r>
            <a:r>
              <a:rPr lang="fr-FR"/>
              <a:t>de risque </a:t>
            </a:r>
            <a:r>
              <a:rPr lang="fr-FR" dirty="0"/>
              <a:t>établis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VII. </a:t>
            </a:r>
            <a:r>
              <a:rPr sz="2400" b="1" i="0" dirty="0" err="1">
                <a:solidFill>
                  <a:srgbClr val="00468C"/>
                </a:solidFill>
              </a:rPr>
              <a:t>Régression</a:t>
            </a:r>
            <a:r>
              <a:rPr sz="2400" b="1" i="0" dirty="0">
                <a:solidFill>
                  <a:srgbClr val="00468C"/>
                </a:solidFill>
              </a:rPr>
              <a:t> — </a:t>
            </a:r>
            <a:r>
              <a:rPr lang="fr-FR" sz="2400" b="1" i="0" dirty="0">
                <a:solidFill>
                  <a:srgbClr val="00468C"/>
                </a:solidFill>
              </a:rPr>
              <a:t>prédire le taux de cholestérol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12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2D5BD7-F896-F9B6-85D9-CA5D592368FD}"/>
              </a:ext>
            </a:extLst>
          </p:cNvPr>
          <p:cNvSpPr txBox="1"/>
          <p:nvPr/>
        </p:nvSpPr>
        <p:spPr>
          <a:xfrm>
            <a:off x="320040" y="935335"/>
            <a:ext cx="1122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Selon le NCEP, le cholestérol est un facteur de risque cardiovasculaire reconnu.</a:t>
            </a:r>
          </a:p>
          <a:p>
            <a:endParaRPr lang="fr-FR" dirty="0"/>
          </a:p>
          <a:p>
            <a:r>
              <a:rPr lang="fr-FR" b="1" dirty="0">
                <a:solidFill>
                  <a:schemeClr val="tx2"/>
                </a:solidFill>
              </a:rPr>
              <a:t>Objectif : </a:t>
            </a:r>
            <a:r>
              <a:rPr lang="fr-FR" dirty="0"/>
              <a:t>prédire le taux de cholestérol (en mg/</a:t>
            </a:r>
            <a:r>
              <a:rPr lang="fr-FR" dirty="0" err="1"/>
              <a:t>dL</a:t>
            </a:r>
            <a:r>
              <a:rPr lang="fr-FR" dirty="0"/>
              <a:t>) à partir des habitudes de vie et indicateurs biologiques.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4C767FAB-00E4-43DE-0C75-97F85C76AFCA}"/>
              </a:ext>
            </a:extLst>
          </p:cNvPr>
          <p:cNvSpPr txBox="1"/>
          <p:nvPr/>
        </p:nvSpPr>
        <p:spPr>
          <a:xfrm>
            <a:off x="320040" y="2021816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0000"/>
                </a:solidFill>
              </a:rPr>
              <a:t>Data Leakage </a:t>
            </a:r>
            <a:r>
              <a:rPr b="1" i="0" dirty="0" err="1">
                <a:solidFill>
                  <a:srgbClr val="FF0000"/>
                </a:solidFill>
              </a:rPr>
              <a:t>détecté</a:t>
            </a:r>
            <a:r>
              <a:rPr b="1" i="0" dirty="0">
                <a:solidFill>
                  <a:srgbClr val="FF0000"/>
                </a:solidFill>
              </a:rPr>
              <a:t> et </a:t>
            </a:r>
            <a:r>
              <a:rPr b="1" i="0" dirty="0" err="1">
                <a:solidFill>
                  <a:srgbClr val="FF0000"/>
                </a:solidFill>
              </a:rPr>
              <a:t>corrigé</a:t>
            </a:r>
            <a:endParaRPr b="1" i="0" dirty="0">
              <a:solidFill>
                <a:srgbClr val="FF0000"/>
              </a:solidFill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1AE68B7-FEC9-4767-88E0-02525A252BED}"/>
              </a:ext>
            </a:extLst>
          </p:cNvPr>
          <p:cNvSpPr txBox="1"/>
          <p:nvPr/>
        </p:nvSpPr>
        <p:spPr>
          <a:xfrm>
            <a:off x="320040" y="2453136"/>
            <a:ext cx="11228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000000"/>
                </a:solidFill>
              </a:rPr>
              <a:t>hypercholesterol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lang="fr-FR" dirty="0">
                <a:solidFill>
                  <a:srgbClr val="000000"/>
                </a:solidFill>
              </a:rPr>
              <a:t>directement dérivée de la variable cible : 'donner la réponse' au modèle</a:t>
            </a:r>
          </a:p>
          <a:p>
            <a:r>
              <a:rPr dirty="0" err="1">
                <a:solidFill>
                  <a:srgbClr val="000000"/>
                </a:solidFill>
              </a:rPr>
              <a:t>Exclue</a:t>
            </a:r>
            <a:r>
              <a:rPr dirty="0">
                <a:solidFill>
                  <a:srgbClr val="000000"/>
                </a:solidFill>
              </a:rPr>
              <a:t> de la </a:t>
            </a:r>
            <a:r>
              <a:rPr dirty="0" err="1">
                <a:solidFill>
                  <a:srgbClr val="000000"/>
                </a:solidFill>
              </a:rPr>
              <a:t>régression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 err="1">
                <a:solidFill>
                  <a:srgbClr val="000000"/>
                </a:solidFill>
              </a:rPr>
              <a:t>conservée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uniquement</a:t>
            </a:r>
            <a:r>
              <a:rPr dirty="0">
                <a:solidFill>
                  <a:srgbClr val="000000"/>
                </a:solidFill>
              </a:rPr>
              <a:t> pour le clustering</a:t>
            </a:r>
            <a:endParaRPr lang="fr-FR" dirty="0">
              <a:solidFill>
                <a:srgbClr val="000000"/>
              </a:solidFill>
            </a:endParaRPr>
          </a:p>
          <a:p>
            <a:r>
              <a:rPr lang="fr-FR" dirty="0">
                <a:solidFill>
                  <a:srgbClr val="000000"/>
                </a:solidFill>
              </a:rPr>
              <a:t>R² artificiel = 0.675 avec </a:t>
            </a:r>
            <a:r>
              <a:rPr lang="fr-FR" dirty="0" err="1">
                <a:solidFill>
                  <a:srgbClr val="000000"/>
                </a:solidFill>
              </a:rPr>
              <a:t>leakage</a:t>
            </a:r>
            <a:r>
              <a:rPr lang="fr-FR" dirty="0">
                <a:solidFill>
                  <a:srgbClr val="000000"/>
                </a:solidFill>
              </a:rPr>
              <a:t> → R² ≈ 0 après suppression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E3685FC-F90B-A086-E3C7-C4490DD1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138"/>
          <a:stretch>
            <a:fillRect/>
          </a:stretch>
        </p:blipFill>
        <p:spPr>
          <a:xfrm>
            <a:off x="0" y="5446137"/>
            <a:ext cx="4975815" cy="76605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7B379E5-C3EE-F1F0-F85E-17DB91C75C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42" b="32200"/>
          <a:stretch>
            <a:fillRect/>
          </a:stretch>
        </p:blipFill>
        <p:spPr>
          <a:xfrm>
            <a:off x="4217165" y="5446137"/>
            <a:ext cx="4395762" cy="88065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9F199B01-232A-3921-02DD-ADFDA6BD35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013" r="31435"/>
          <a:stretch>
            <a:fillRect/>
          </a:stretch>
        </p:blipFill>
        <p:spPr>
          <a:xfrm>
            <a:off x="7587266" y="5376017"/>
            <a:ext cx="3444912" cy="906296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0A09BB9B-141F-E9F7-3CCF-6BE697761EF3}"/>
              </a:ext>
            </a:extLst>
          </p:cNvPr>
          <p:cNvSpPr txBox="1"/>
          <p:nvPr/>
        </p:nvSpPr>
        <p:spPr>
          <a:xfrm>
            <a:off x="320040" y="3455618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i="0" dirty="0">
                <a:solidFill>
                  <a:schemeClr val="tx2"/>
                </a:solidFill>
              </a:rPr>
              <a:t>Protocole expérimental</a:t>
            </a:r>
            <a:endParaRPr b="1" i="0" dirty="0">
              <a:solidFill>
                <a:schemeClr val="tx2"/>
              </a:solidFill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58FD3952-908D-2C0E-5866-2226F7C6D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96" y="3970937"/>
            <a:ext cx="11228832" cy="1002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VII. </a:t>
            </a:r>
            <a:r>
              <a:rPr sz="2400" b="1" i="0" dirty="0" err="1">
                <a:solidFill>
                  <a:srgbClr val="00468C"/>
                </a:solidFill>
              </a:rPr>
              <a:t>Régression</a:t>
            </a:r>
            <a:r>
              <a:rPr sz="2400" b="1" i="0" dirty="0">
                <a:solidFill>
                  <a:srgbClr val="00468C"/>
                </a:solidFill>
              </a:rPr>
              <a:t> — </a:t>
            </a:r>
            <a:r>
              <a:rPr sz="2400" b="1" i="0" dirty="0" err="1">
                <a:solidFill>
                  <a:srgbClr val="00468C"/>
                </a:solidFill>
              </a:rPr>
              <a:t>Résultats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8783" y="3282180"/>
            <a:ext cx="6766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chemeClr val="tx2"/>
                </a:solidFill>
              </a:rPr>
              <a:t>Analyse</a:t>
            </a:r>
            <a:r>
              <a:rPr sz="2000" b="1" i="0" dirty="0">
                <a:solidFill>
                  <a:schemeClr val="tx2"/>
                </a:solidFill>
              </a:rPr>
              <a:t> 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783" y="3767110"/>
            <a:ext cx="114391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Lasso (</a:t>
            </a:r>
            <a:r>
              <a:rPr dirty="0" err="1">
                <a:solidFill>
                  <a:srgbClr val="000000"/>
                </a:solidFill>
              </a:rPr>
              <a:t>tuné</a:t>
            </a:r>
            <a:r>
              <a:rPr dirty="0">
                <a:solidFill>
                  <a:srgbClr val="000000"/>
                </a:solidFill>
              </a:rPr>
              <a:t>) </a:t>
            </a:r>
            <a:r>
              <a:rPr lang="fr-FR" dirty="0">
                <a:solidFill>
                  <a:srgbClr val="000000"/>
                </a:solidFill>
              </a:rPr>
              <a:t>fixe </a:t>
            </a:r>
            <a:r>
              <a:rPr dirty="0">
                <a:solidFill>
                  <a:srgbClr val="000000"/>
                </a:solidFill>
              </a:rPr>
              <a:t>16/16 coefficients </a:t>
            </a:r>
            <a:r>
              <a:rPr lang="fr-FR" dirty="0">
                <a:solidFill>
                  <a:srgbClr val="000000"/>
                </a:solidFill>
              </a:rPr>
              <a:t>à </a:t>
            </a:r>
            <a:r>
              <a:rPr dirty="0">
                <a:solidFill>
                  <a:srgbClr val="000000"/>
                </a:solidFill>
              </a:rPr>
              <a:t>0</a:t>
            </a:r>
            <a:r>
              <a:rPr lang="fr-FR" dirty="0">
                <a:solidFill>
                  <a:srgbClr val="000000"/>
                </a:solidFill>
              </a:rPr>
              <a:t>, il </a:t>
            </a:r>
            <a:r>
              <a:rPr dirty="0" err="1">
                <a:solidFill>
                  <a:srgbClr val="000000"/>
                </a:solidFill>
              </a:rPr>
              <a:t>prédit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uniquement</a:t>
            </a:r>
            <a:r>
              <a:rPr dirty="0">
                <a:solidFill>
                  <a:srgbClr val="000000"/>
                </a:solidFill>
              </a:rPr>
              <a:t> la </a:t>
            </a:r>
            <a:r>
              <a:rPr dirty="0" err="1">
                <a:solidFill>
                  <a:srgbClr val="000000"/>
                </a:solidFill>
              </a:rPr>
              <a:t>moyenne</a:t>
            </a:r>
            <a:r>
              <a:rPr dirty="0">
                <a:solidFill>
                  <a:srgbClr val="000000"/>
                </a:solidFill>
              </a:rPr>
              <a:t> (224.3 mg/dL)</a:t>
            </a:r>
            <a:r>
              <a:rPr lang="fr-FR" dirty="0">
                <a:solidFill>
                  <a:srgbClr val="000000"/>
                </a:solidFill>
              </a:rPr>
              <a:t> pour chaque individu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Random Forest : R² &lt; 0</a:t>
            </a:r>
            <a:r>
              <a:rPr lang="fr-FR" dirty="0">
                <a:solidFill>
                  <a:srgbClr val="000000"/>
                </a:solidFill>
              </a:rPr>
              <a:t> est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pire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que</a:t>
            </a:r>
            <a:r>
              <a:rPr dirty="0">
                <a:solidFill>
                  <a:srgbClr val="000000"/>
                </a:solidFill>
              </a:rPr>
              <a:t> la </a:t>
            </a:r>
            <a:r>
              <a:rPr dirty="0" err="1">
                <a:solidFill>
                  <a:srgbClr val="000000"/>
                </a:solidFill>
              </a:rPr>
              <a:t>moyenne</a:t>
            </a:r>
            <a:r>
              <a:rPr dirty="0">
                <a:solidFill>
                  <a:srgbClr val="000000"/>
                </a:solidFill>
              </a:rPr>
              <a:t> (</a:t>
            </a:r>
            <a:r>
              <a:rPr dirty="0" err="1">
                <a:solidFill>
                  <a:srgbClr val="000000"/>
                </a:solidFill>
              </a:rPr>
              <a:t>surajustement</a:t>
            </a:r>
            <a:r>
              <a:rPr dirty="0">
                <a:solidFill>
                  <a:srgbClr val="000000"/>
                </a:solidFill>
              </a:rPr>
              <a:t> du bruit)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0000"/>
                </a:solidFill>
              </a:rPr>
              <a:t>XGBoost</a:t>
            </a:r>
            <a:r>
              <a:rPr lang="fr-FR" dirty="0">
                <a:solidFill>
                  <a:srgbClr val="000000"/>
                </a:solidFill>
              </a:rPr>
              <a:t> : R² = 0.0001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Data leakage </a:t>
            </a:r>
            <a:r>
              <a:rPr dirty="0" err="1">
                <a:solidFill>
                  <a:srgbClr val="000000"/>
                </a:solidFill>
              </a:rPr>
              <a:t>corrigé</a:t>
            </a:r>
            <a:r>
              <a:rPr dirty="0">
                <a:solidFill>
                  <a:srgbClr val="000000"/>
                </a:solidFill>
              </a:rPr>
              <a:t> : R² 0.675 → ≈ 0 après suppression de </a:t>
            </a:r>
            <a:r>
              <a:rPr dirty="0" err="1">
                <a:solidFill>
                  <a:srgbClr val="000000"/>
                </a:solidFill>
              </a:rPr>
              <a:t>hypercholesterol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Différences</a:t>
            </a:r>
            <a:r>
              <a:rPr dirty="0">
                <a:solidFill>
                  <a:srgbClr val="000000"/>
                </a:solidFill>
              </a:rPr>
              <a:t> entre −0.005 et 0.0001 </a:t>
            </a:r>
            <a:r>
              <a:rPr dirty="0" err="1">
                <a:solidFill>
                  <a:srgbClr val="000000"/>
                </a:solidFill>
              </a:rPr>
              <a:t>statistiquement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négligeables</a:t>
            </a:r>
            <a:r>
              <a:rPr lang="fr-FR" dirty="0">
                <a:solidFill>
                  <a:srgbClr val="000000"/>
                </a:solidFill>
              </a:rPr>
              <a:t>,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aucun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modèle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retenu</a:t>
            </a:r>
            <a:endParaRPr lang="fr-FR" dirty="0">
              <a:solidFill>
                <a:srgbClr val="000000"/>
              </a:solidFill>
            </a:endParaRPr>
          </a:p>
          <a:p>
            <a:endParaRPr lang="fr-FR" dirty="0">
              <a:solidFill>
                <a:srgbClr val="000000"/>
              </a:solidFill>
            </a:endParaRPr>
          </a:p>
          <a:p>
            <a:pPr algn="ctr"/>
            <a:r>
              <a:rPr b="1" dirty="0">
                <a:solidFill>
                  <a:srgbClr val="FF0000"/>
                </a:solidFill>
              </a:rPr>
              <a:t>Cause : variables </a:t>
            </a:r>
            <a:r>
              <a:rPr b="1" dirty="0" err="1">
                <a:solidFill>
                  <a:srgbClr val="FF0000"/>
                </a:solidFill>
              </a:rPr>
              <a:t>générées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indépendamment</a:t>
            </a:r>
            <a:r>
              <a:rPr b="1" dirty="0">
                <a:solidFill>
                  <a:srgbClr val="FF0000"/>
                </a:solidFill>
              </a:rPr>
              <a:t> — signal absent par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4132" y="2914101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7.1 – Résultats de régression (variable cible : </a:t>
            </a:r>
            <a:r>
              <a:rPr lang="fr-FR" sz="1100" b="0" i="1" dirty="0" err="1">
                <a:solidFill>
                  <a:srgbClr val="646464"/>
                </a:solidFill>
              </a:rPr>
              <a:t>cholesterol</a:t>
            </a:r>
            <a:r>
              <a:rPr lang="fr-FR" sz="1100" b="0" i="1" dirty="0">
                <a:solidFill>
                  <a:srgbClr val="646464"/>
                </a:solidFill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rgbClr val="8C8C8C"/>
                </a:solidFill>
              </a:rPr>
              <a:t>13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14EA9A4-F748-6F3C-87EE-EB5609E9A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805" y="877824"/>
            <a:ext cx="7471214" cy="19905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0" dirty="0">
                <a:solidFill>
                  <a:srgbClr val="00468C"/>
                </a:solidFill>
              </a:rPr>
              <a:t>VIII. </a:t>
            </a:r>
            <a:r>
              <a:rPr sz="2400" b="1" i="0" dirty="0">
                <a:solidFill>
                  <a:srgbClr val="00468C"/>
                </a:solidFill>
              </a:rPr>
              <a:t>Classification</a:t>
            </a:r>
            <a:r>
              <a:rPr lang="fr-FR" sz="2400" b="1" dirty="0">
                <a:solidFill>
                  <a:srgbClr val="00468C"/>
                </a:solidFill>
              </a:rPr>
              <a:t> — prédire le risque de maladie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8C8C8C"/>
                </a:solidFill>
              </a:rPr>
              <a:t>1</a:t>
            </a:r>
            <a:r>
              <a:rPr lang="fr-FR" sz="1000" b="0" i="0" dirty="0">
                <a:solidFill>
                  <a:srgbClr val="8C8C8C"/>
                </a:solidFill>
              </a:rPr>
              <a:t>4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21B5FD2-8579-239F-1B92-D4E859C88C13}"/>
              </a:ext>
            </a:extLst>
          </p:cNvPr>
          <p:cNvSpPr txBox="1"/>
          <p:nvPr/>
        </p:nvSpPr>
        <p:spPr>
          <a:xfrm>
            <a:off x="320039" y="970157"/>
            <a:ext cx="10142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Objectif : </a:t>
            </a:r>
            <a:r>
              <a:rPr lang="fr-FR" dirty="0"/>
              <a:t>prédire si un individu est à risque de maladie (</a:t>
            </a:r>
            <a:r>
              <a:rPr lang="fr-FR" dirty="0" err="1"/>
              <a:t>disease_risk</a:t>
            </a:r>
            <a:r>
              <a:rPr lang="fr-FR" dirty="0"/>
              <a:t> = 1) ou non (</a:t>
            </a:r>
            <a:r>
              <a:rPr lang="fr-FR" dirty="0" err="1"/>
              <a:t>disease_risk</a:t>
            </a:r>
            <a:r>
              <a:rPr lang="fr-FR" dirty="0"/>
              <a:t> = 0)</a:t>
            </a:r>
          </a:p>
          <a:p>
            <a:endParaRPr lang="fr-FR" dirty="0"/>
          </a:p>
          <a:p>
            <a:r>
              <a:rPr lang="fr-FR" dirty="0"/>
              <a:t>Le </a:t>
            </a:r>
            <a:r>
              <a:rPr lang="fr-FR" dirty="0" err="1"/>
              <a:t>dataset</a:t>
            </a:r>
            <a:r>
              <a:rPr lang="fr-FR" dirty="0"/>
              <a:t> présente un déséquilibre de classes : 75.2% sans risque, 24.8% à risque.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0D93583-392F-5652-F986-4F728E3C7AB8}"/>
              </a:ext>
            </a:extLst>
          </p:cNvPr>
          <p:cNvSpPr txBox="1"/>
          <p:nvPr/>
        </p:nvSpPr>
        <p:spPr>
          <a:xfrm>
            <a:off x="319975" y="4709959"/>
            <a:ext cx="613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b="1" dirty="0">
                <a:solidFill>
                  <a:srgbClr val="00468C"/>
                </a:solidFill>
              </a:rPr>
              <a:t>Métriques d’évaluation </a:t>
            </a:r>
            <a:endParaRPr lang="fr-FR" sz="1800" b="1" dirty="0">
              <a:solidFill>
                <a:srgbClr val="00468C"/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E8F4538-C2B8-7515-A5AB-CD38A6DE1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120" b="48953"/>
          <a:stretch>
            <a:fillRect/>
          </a:stretch>
        </p:blipFill>
        <p:spPr>
          <a:xfrm>
            <a:off x="319975" y="5151269"/>
            <a:ext cx="2334610" cy="646331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7897539-70BF-4D88-235A-98CF0BFF3596}"/>
              </a:ext>
            </a:extLst>
          </p:cNvPr>
          <p:cNvSpPr txBox="1"/>
          <p:nvPr/>
        </p:nvSpPr>
        <p:spPr>
          <a:xfrm>
            <a:off x="320039" y="2031986"/>
            <a:ext cx="2421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468C"/>
                </a:solidFill>
              </a:rPr>
              <a:t>Protocole expérimental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78FBC59D-530F-95F6-7D49-1436FF151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2674508"/>
            <a:ext cx="11548873" cy="1091557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0178B0EC-EF94-14E6-A25D-A9C672655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831" b="48953"/>
          <a:stretch>
            <a:fillRect/>
          </a:stretch>
        </p:blipFill>
        <p:spPr>
          <a:xfrm>
            <a:off x="4223932" y="5097555"/>
            <a:ext cx="2334610" cy="646331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48D9BBA-FEE4-BC45-9EAF-41EF37FCB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953" r="24069"/>
          <a:stretch>
            <a:fillRect/>
          </a:stretch>
        </p:blipFill>
        <p:spPr>
          <a:xfrm>
            <a:off x="7781136" y="5184834"/>
            <a:ext cx="3904183" cy="646331"/>
          </a:xfrm>
          <a:prstGeom prst="rect">
            <a:avLst/>
          </a:prstGeom>
        </p:spPr>
      </p:pic>
      <p:sp>
        <p:nvSpPr>
          <p:cNvPr id="32" name="TextBox 10">
            <a:extLst>
              <a:ext uri="{FF2B5EF4-FFF2-40B4-BE49-F238E27FC236}">
                <a16:creationId xmlns:a16="http://schemas.microsoft.com/office/drawing/2014/main" id="{57101A9C-F4AC-67E9-0560-82168A6940C3}"/>
              </a:ext>
            </a:extLst>
          </p:cNvPr>
          <p:cNvSpPr txBox="1"/>
          <p:nvPr/>
        </p:nvSpPr>
        <p:spPr>
          <a:xfrm>
            <a:off x="319975" y="4068735"/>
            <a:ext cx="10142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i="1" dirty="0">
                <a:solidFill>
                  <a:srgbClr val="646464"/>
                </a:solidFill>
              </a:rPr>
              <a:t>Sans stratification, un fold pourrait ne contenir que des individus sans risque et biaiser l’évaluation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D02C-0EEF-4B1E-E44A-5BDA6EBC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3083DE-06A0-614B-C704-42A7A9A22319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1AE9F-CB41-A098-A014-EEDC217BDEA0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dirty="0">
                <a:solidFill>
                  <a:srgbClr val="00468C"/>
                </a:solidFill>
              </a:rPr>
              <a:t>VIII. </a:t>
            </a:r>
            <a:r>
              <a:rPr sz="2400" b="1" i="0" dirty="0">
                <a:solidFill>
                  <a:srgbClr val="00468C"/>
                </a:solidFill>
              </a:rPr>
              <a:t>Classification — </a:t>
            </a:r>
            <a:r>
              <a:rPr sz="2400" b="1" i="0" dirty="0" err="1">
                <a:solidFill>
                  <a:srgbClr val="00468C"/>
                </a:solidFill>
              </a:rPr>
              <a:t>Résultats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7B6E7-2FC1-BF5F-8D67-BE97ECBB2DC5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6DCFF-BE45-4316-37ED-078C4D02B01B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8C8C8C"/>
                </a:solidFill>
              </a:rPr>
              <a:t>1</a:t>
            </a:r>
            <a:r>
              <a:rPr lang="fr-FR" sz="1000" b="0" i="0" dirty="0">
                <a:solidFill>
                  <a:srgbClr val="8C8C8C"/>
                </a:solidFill>
              </a:rPr>
              <a:t>5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74A7268-C7CC-E135-8A52-CCE7CDCB4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04703"/>
            <a:ext cx="6392099" cy="1595596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7C5C6D8F-3F66-F84F-A488-CE4AF2DA864E}"/>
              </a:ext>
            </a:extLst>
          </p:cNvPr>
          <p:cNvSpPr txBox="1"/>
          <p:nvPr/>
        </p:nvSpPr>
        <p:spPr>
          <a:xfrm>
            <a:off x="411479" y="3365311"/>
            <a:ext cx="7102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/>
              <a:t>La précision du modèle naïf est indéfinie : TP = 0, FP = 0</a:t>
            </a:r>
          </a:p>
        </p:txBody>
      </p:sp>
      <p:pic>
        <p:nvPicPr>
          <p:cNvPr id="19" name="Picture 9" descr="roc_curves.png">
            <a:extLst>
              <a:ext uri="{FF2B5EF4-FFF2-40B4-BE49-F238E27FC236}">
                <a16:creationId xmlns:a16="http://schemas.microsoft.com/office/drawing/2014/main" id="{AAA19617-A883-7744-74F3-618900AEF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79" t="11406" r="14375"/>
          <a:stretch>
            <a:fillRect/>
          </a:stretch>
        </p:blipFill>
        <p:spPr>
          <a:xfrm>
            <a:off x="6965289" y="995690"/>
            <a:ext cx="4903496" cy="388714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3F05F90B-3718-6A88-9DB1-4161C0AF4450}"/>
              </a:ext>
            </a:extLst>
          </p:cNvPr>
          <p:cNvSpPr txBox="1"/>
          <p:nvPr/>
        </p:nvSpPr>
        <p:spPr>
          <a:xfrm>
            <a:off x="411479" y="4358991"/>
            <a:ext cx="7068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AUC ≈ 0.5 pour tous = équivalent à un tirage aléatoire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SMOTE : même résultat — ne peut pas créer un signal absent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0000"/>
                </a:solidFill>
              </a:rPr>
              <a:t>class_weight</a:t>
            </a:r>
            <a:r>
              <a:rPr lang="fr-FR" dirty="0">
                <a:solidFill>
                  <a:srgbClr val="000000"/>
                </a:solidFill>
              </a:rPr>
              <a:t>='</a:t>
            </a:r>
            <a:r>
              <a:rPr lang="fr-FR" dirty="0" err="1">
                <a:solidFill>
                  <a:srgbClr val="000000"/>
                </a:solidFill>
              </a:rPr>
              <a:t>balanced</a:t>
            </a:r>
            <a:r>
              <a:rPr lang="fr-FR" dirty="0">
                <a:solidFill>
                  <a:srgbClr val="000000"/>
                </a:solidFill>
              </a:rPr>
              <a:t>' : rappel monte mais </a:t>
            </a:r>
            <a:r>
              <a:rPr lang="fr-FR" dirty="0" err="1">
                <a:solidFill>
                  <a:srgbClr val="000000"/>
                </a:solidFill>
              </a:rPr>
              <a:t>accuracy</a:t>
            </a:r>
            <a:r>
              <a:rPr lang="fr-FR" dirty="0">
                <a:solidFill>
                  <a:srgbClr val="000000"/>
                </a:solidFill>
              </a:rPr>
              <a:t> &lt; 50%, ils sur corrigent le déséquilibre au détriment de la précision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23FB5482-AC74-0A80-805D-3FB7FE58A4AE}"/>
              </a:ext>
            </a:extLst>
          </p:cNvPr>
          <p:cNvSpPr txBox="1"/>
          <p:nvPr/>
        </p:nvSpPr>
        <p:spPr>
          <a:xfrm>
            <a:off x="1292577" y="2852950"/>
            <a:ext cx="44470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3.2 – Résultats de classification (variable cible : </a:t>
            </a:r>
            <a:r>
              <a:rPr lang="fr-FR" sz="1100" b="0" i="1" dirty="0" err="1">
                <a:solidFill>
                  <a:srgbClr val="646464"/>
                </a:solidFill>
              </a:rPr>
              <a:t>disease_risk</a:t>
            </a:r>
            <a:r>
              <a:rPr lang="fr-FR" sz="1100" b="0" i="1" dirty="0">
                <a:solidFill>
                  <a:srgbClr val="646464"/>
                </a:solidFill>
              </a:rPr>
              <a:t>)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15BC4132-F6C1-8B7D-FBA7-0F7F42E2B777}"/>
              </a:ext>
            </a:extLst>
          </p:cNvPr>
          <p:cNvSpPr txBox="1"/>
          <p:nvPr/>
        </p:nvSpPr>
        <p:spPr>
          <a:xfrm>
            <a:off x="8211313" y="481640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Figure </a:t>
            </a:r>
            <a:r>
              <a:rPr lang="fr-FR" sz="1100" i="1" dirty="0">
                <a:solidFill>
                  <a:srgbClr val="646464"/>
                </a:solidFill>
              </a:rPr>
              <a:t>8.1 — </a:t>
            </a:r>
            <a:r>
              <a:rPr sz="1100" b="0" i="1" dirty="0" err="1">
                <a:solidFill>
                  <a:srgbClr val="646464"/>
                </a:solidFill>
              </a:rPr>
              <a:t>Courbes</a:t>
            </a:r>
            <a:r>
              <a:rPr sz="1100" b="0" i="1" dirty="0">
                <a:solidFill>
                  <a:srgbClr val="646464"/>
                </a:solidFill>
              </a:rPr>
              <a:t> ROC — AUC ≈ 0.5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7DD40F93-338B-4630-3C1D-B103C943AC60}"/>
              </a:ext>
            </a:extLst>
          </p:cNvPr>
          <p:cNvSpPr txBox="1"/>
          <p:nvPr/>
        </p:nvSpPr>
        <p:spPr>
          <a:xfrm>
            <a:off x="411479" y="3893237"/>
            <a:ext cx="6766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chemeClr val="tx2"/>
                </a:solidFill>
              </a:rPr>
              <a:t>Analyse</a:t>
            </a:r>
            <a:r>
              <a:rPr sz="2000" b="1" i="0" dirty="0">
                <a:solidFill>
                  <a:schemeClr val="tx2"/>
                </a:solidFill>
              </a:rPr>
              <a:t> critique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277838F-5A4C-19D9-6781-F0FD712CFE25}"/>
              </a:ext>
            </a:extLst>
          </p:cNvPr>
          <p:cNvSpPr txBox="1"/>
          <p:nvPr/>
        </p:nvSpPr>
        <p:spPr>
          <a:xfrm>
            <a:off x="411479" y="5484181"/>
            <a:ext cx="8731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0000"/>
                </a:solidFill>
              </a:rPr>
              <a:t>Accuracy</a:t>
            </a:r>
            <a:r>
              <a:rPr lang="fr-FR" dirty="0">
                <a:solidFill>
                  <a:srgbClr val="000000"/>
                </a:solidFill>
              </a:rPr>
              <a:t> seule trompeuse sur données déséquilibrées → F1 + AUC obligatoires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Cohérent avec régression : </a:t>
            </a:r>
            <a:r>
              <a:rPr lang="fr-FR" dirty="0" err="1">
                <a:solidFill>
                  <a:srgbClr val="000000"/>
                </a:solidFill>
              </a:rPr>
              <a:t>disease_risk</a:t>
            </a:r>
            <a:r>
              <a:rPr lang="fr-FR" dirty="0">
                <a:solidFill>
                  <a:srgbClr val="000000"/>
                </a:solidFill>
              </a:rPr>
              <a:t> généré indépendamment de toutes les variables</a:t>
            </a:r>
          </a:p>
        </p:txBody>
      </p:sp>
    </p:spTree>
    <p:extLst>
      <p:ext uri="{BB962C8B-B14F-4D97-AF65-F5344CB8AC3E}">
        <p14:creationId xmlns:p14="http://schemas.microsoft.com/office/powerpoint/2010/main" val="1209160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C52C-A7ED-A245-4802-5684A841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54C4B6-E584-8768-3318-7FB70B967D2A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19017-4914-9420-96D3-A4A9CA93194A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VIII. </a:t>
            </a:r>
            <a:r>
              <a:rPr sz="2400" b="1" i="0" dirty="0">
                <a:solidFill>
                  <a:srgbClr val="00468C"/>
                </a:solidFill>
              </a:rPr>
              <a:t>Classification — </a:t>
            </a:r>
            <a:r>
              <a:rPr sz="2400" b="1" i="0" dirty="0" err="1">
                <a:solidFill>
                  <a:srgbClr val="00468C"/>
                </a:solidFill>
              </a:rPr>
              <a:t>Résultats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3DCD9-F7B2-A198-572E-5ABADE9AC092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onfusion_matrices.png">
            <a:extLst>
              <a:ext uri="{FF2B5EF4-FFF2-40B4-BE49-F238E27FC236}">
                <a16:creationId xmlns:a16="http://schemas.microsoft.com/office/drawing/2014/main" id="{116166C0-1FD8-A290-E6CF-EC2BD0F83D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58"/>
          <a:stretch>
            <a:fillRect/>
          </a:stretch>
        </p:blipFill>
        <p:spPr>
          <a:xfrm>
            <a:off x="1120893" y="1206005"/>
            <a:ext cx="9737767" cy="23368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9A8A39-9CEF-78B2-3950-E2C3BE9E0B99}"/>
              </a:ext>
            </a:extLst>
          </p:cNvPr>
          <p:cNvSpPr txBox="1"/>
          <p:nvPr/>
        </p:nvSpPr>
        <p:spPr>
          <a:xfrm>
            <a:off x="3463139" y="3686761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Figure 8.2 </a:t>
            </a:r>
            <a:r>
              <a:rPr lang="fr-FR" sz="1100" i="1" dirty="0">
                <a:solidFill>
                  <a:srgbClr val="646464"/>
                </a:solidFill>
              </a:rPr>
              <a:t>— </a:t>
            </a:r>
            <a:r>
              <a:rPr lang="fr-FR" sz="1100" b="0" i="1" dirty="0">
                <a:solidFill>
                  <a:srgbClr val="646464"/>
                </a:solidFill>
              </a:rPr>
              <a:t>Matrices de confusion des trois modèles de 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5F947-FA59-D8F4-42C2-E8EC38923933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8C8C8C"/>
                </a:solidFill>
              </a:rPr>
              <a:t>1</a:t>
            </a:r>
            <a:r>
              <a:rPr lang="fr-FR" sz="1000" b="0" i="0" dirty="0">
                <a:solidFill>
                  <a:srgbClr val="8C8C8C"/>
                </a:solidFill>
              </a:rPr>
              <a:t>6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F5EE40-69E2-F7E6-E076-8B0A291A36E5}"/>
              </a:ext>
            </a:extLst>
          </p:cNvPr>
          <p:cNvSpPr txBox="1"/>
          <p:nvPr/>
        </p:nvSpPr>
        <p:spPr>
          <a:xfrm>
            <a:off x="430680" y="4353866"/>
            <a:ext cx="114382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Quel est le meilleur modèle en classification ?</a:t>
            </a:r>
          </a:p>
          <a:p>
            <a:endParaRPr lang="fr-FR" b="1" dirty="0">
              <a:solidFill>
                <a:schemeClr val="tx2"/>
              </a:solidFill>
            </a:endParaRPr>
          </a:p>
          <a:p>
            <a:r>
              <a:rPr lang="fr-FR" dirty="0"/>
              <a:t>Aucun modèle n’est retenu pour déploiement. </a:t>
            </a:r>
          </a:p>
          <a:p>
            <a:endParaRPr lang="fr-FR" dirty="0"/>
          </a:p>
          <a:p>
            <a:r>
              <a:rPr lang="fr-FR" dirty="0"/>
              <a:t>AUC ≈ 0.5 pour tous, aucun ne discrimine mieux qu’un tirage aléatoire : choisir le « meilleur » n’a pas de sens statistique.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6577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IX. </a:t>
            </a:r>
            <a:r>
              <a:rPr sz="2400" b="1" i="0" dirty="0">
                <a:solidFill>
                  <a:srgbClr val="00468C"/>
                </a:solidFill>
              </a:rPr>
              <a:t>Clustering — </a:t>
            </a:r>
            <a:r>
              <a:rPr lang="fr-FR" sz="2400" b="1" dirty="0">
                <a:solidFill>
                  <a:srgbClr val="00468C"/>
                </a:solidFill>
              </a:rPr>
              <a:t>identifier des profils de mode de vie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8C8C8C"/>
                </a:solidFill>
              </a:rPr>
              <a:t>1</a:t>
            </a:r>
            <a:r>
              <a:rPr lang="fr-FR" sz="1000" b="0" i="0" dirty="0">
                <a:solidFill>
                  <a:srgbClr val="8C8C8C"/>
                </a:solidFill>
              </a:rPr>
              <a:t>7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2D1C636-2266-1DDD-C5D8-7A3664FB70BD}"/>
              </a:ext>
            </a:extLst>
          </p:cNvPr>
          <p:cNvSpPr txBox="1"/>
          <p:nvPr/>
        </p:nvSpPr>
        <p:spPr>
          <a:xfrm>
            <a:off x="320040" y="971970"/>
            <a:ext cx="10195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Objectif : </a:t>
            </a:r>
            <a:r>
              <a:rPr lang="fr-FR" dirty="0"/>
              <a:t>regrouper les individus selon leur similarité pour identifier des profils types de mode de vie.</a:t>
            </a:r>
          </a:p>
          <a:p>
            <a:endParaRPr lang="fr-FR" dirty="0"/>
          </a:p>
          <a:p>
            <a:r>
              <a:rPr lang="fr-FR" dirty="0"/>
              <a:t>Pas de variable cible, la variable </a:t>
            </a:r>
            <a:r>
              <a:rPr lang="fr-FR" dirty="0" err="1"/>
              <a:t>disease_risk</a:t>
            </a:r>
            <a:r>
              <a:rPr lang="fr-FR" dirty="0"/>
              <a:t> est exclue du clustering.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BA035B8-8E54-9BCB-F0E6-BB33052291D5}"/>
              </a:ext>
            </a:extLst>
          </p:cNvPr>
          <p:cNvSpPr txBox="1"/>
          <p:nvPr/>
        </p:nvSpPr>
        <p:spPr>
          <a:xfrm>
            <a:off x="320040" y="1955217"/>
            <a:ext cx="6144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468C"/>
                </a:solidFill>
              </a:rPr>
              <a:t>Préparation des données</a:t>
            </a:r>
            <a:endParaRPr lang="fr-FR" sz="1800" b="1" dirty="0">
              <a:solidFill>
                <a:srgbClr val="00468C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A6B6C4A-1CF7-1CCB-18F2-CE0F77AB1ECB}"/>
              </a:ext>
            </a:extLst>
          </p:cNvPr>
          <p:cNvSpPr txBox="1"/>
          <p:nvPr/>
        </p:nvSpPr>
        <p:spPr>
          <a:xfrm>
            <a:off x="320040" y="2351826"/>
            <a:ext cx="1142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variables explicatives sont standardisées (z-score) avant d’appliquer les algorithmes pour garantir une contribution équitable de toutes les dimensions : </a:t>
            </a:r>
            <a:r>
              <a:rPr lang="fr-FR" dirty="0" err="1"/>
              <a:t>daily_steps</a:t>
            </a:r>
            <a:r>
              <a:rPr lang="fr-FR" dirty="0"/>
              <a:t> (valeurs jusqu’à 20 000) dominerait </a:t>
            </a:r>
            <a:r>
              <a:rPr lang="fr-FR" dirty="0" err="1"/>
              <a:t>sleep_hours</a:t>
            </a:r>
            <a:r>
              <a:rPr lang="fr-FR" dirty="0"/>
              <a:t> (valeurs entre 3 et 10).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B92A640-1100-AE80-E0BE-5B4155946D65}"/>
              </a:ext>
            </a:extLst>
          </p:cNvPr>
          <p:cNvSpPr txBox="1"/>
          <p:nvPr/>
        </p:nvSpPr>
        <p:spPr>
          <a:xfrm>
            <a:off x="320040" y="3074217"/>
            <a:ext cx="8147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468C"/>
                </a:solidFill>
              </a:rPr>
              <a:t>Sélection du nombre de clusters - méthode du coude et </a:t>
            </a:r>
            <a:r>
              <a:rPr lang="fr-FR" b="1" dirty="0" err="1">
                <a:solidFill>
                  <a:srgbClr val="00468C"/>
                </a:solidFill>
              </a:rPr>
              <a:t>coeﬃcient</a:t>
            </a:r>
            <a:r>
              <a:rPr lang="fr-FR" b="1" dirty="0">
                <a:solidFill>
                  <a:srgbClr val="00468C"/>
                </a:solidFill>
              </a:rPr>
              <a:t> de silhouette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B5CA2768-C057-0898-4279-D079616E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22200"/>
            <a:ext cx="7648303" cy="258599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84A15A58-509D-B37D-744F-A56AF443C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089" y="3677941"/>
            <a:ext cx="2578100" cy="1676400"/>
          </a:xfrm>
          <a:prstGeom prst="rect">
            <a:avLst/>
          </a:prstGeom>
        </p:spPr>
      </p:pic>
      <p:sp>
        <p:nvSpPr>
          <p:cNvPr id="28" name="TextBox 12">
            <a:extLst>
              <a:ext uri="{FF2B5EF4-FFF2-40B4-BE49-F238E27FC236}">
                <a16:creationId xmlns:a16="http://schemas.microsoft.com/office/drawing/2014/main" id="{C40FEB96-E888-F368-B906-C1119D30A3BD}"/>
              </a:ext>
            </a:extLst>
          </p:cNvPr>
          <p:cNvSpPr txBox="1"/>
          <p:nvPr/>
        </p:nvSpPr>
        <p:spPr>
          <a:xfrm>
            <a:off x="1028697" y="6210442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Figure 9.1 </a:t>
            </a:r>
            <a:r>
              <a:rPr lang="fr-FR" sz="1100" i="1" dirty="0">
                <a:solidFill>
                  <a:srgbClr val="646464"/>
                </a:solidFill>
              </a:rPr>
              <a:t>— </a:t>
            </a:r>
            <a:r>
              <a:rPr lang="fr-FR" sz="1100" b="0" i="1" dirty="0">
                <a:solidFill>
                  <a:srgbClr val="646464"/>
                </a:solidFill>
              </a:rPr>
              <a:t>Inertie intra-cluster et </a:t>
            </a:r>
            <a:r>
              <a:rPr lang="fr-FR" sz="1100" b="0" i="1" dirty="0" err="1">
                <a:solidFill>
                  <a:srgbClr val="646464"/>
                </a:solidFill>
              </a:rPr>
              <a:t>coeﬃcient</a:t>
            </a:r>
            <a:r>
              <a:rPr lang="fr-FR" sz="1100" b="0" i="1" dirty="0">
                <a:solidFill>
                  <a:srgbClr val="646464"/>
                </a:solidFill>
              </a:rPr>
              <a:t> de silhouette selon k (K-Means)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68A01137-211F-6905-1A24-2C6A91AB6DFA}"/>
              </a:ext>
            </a:extLst>
          </p:cNvPr>
          <p:cNvSpPr txBox="1"/>
          <p:nvPr/>
        </p:nvSpPr>
        <p:spPr>
          <a:xfrm>
            <a:off x="7270866" y="5379741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 9.1 </a:t>
            </a:r>
            <a:r>
              <a:rPr lang="fr-FR" sz="1100" i="1" dirty="0">
                <a:solidFill>
                  <a:srgbClr val="646464"/>
                </a:solidFill>
              </a:rPr>
              <a:t>— </a:t>
            </a:r>
            <a:r>
              <a:rPr lang="fr-FR" sz="1100" b="0" i="1" dirty="0">
                <a:solidFill>
                  <a:srgbClr val="646464"/>
                </a:solidFill>
              </a:rPr>
              <a:t>Inertie et silhouette selon k (K-Means)</a:t>
            </a: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B396ECDC-7223-76D3-2113-9DE562C73C76}"/>
              </a:ext>
            </a:extLst>
          </p:cNvPr>
          <p:cNvSpPr txBox="1"/>
          <p:nvPr/>
        </p:nvSpPr>
        <p:spPr>
          <a:xfrm>
            <a:off x="8364036" y="5722643"/>
            <a:ext cx="30762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k = 3 maximise la silhouette et correspond au coude de la courbe d’inertie.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C148-97A4-72DD-3AAD-EAA181C9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CD26B3-077A-D820-1B20-AB7A8252E84B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6BE90-D175-D91F-0604-585FD3EFCB15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IX. </a:t>
            </a:r>
            <a:r>
              <a:rPr sz="2400" b="1" i="0" dirty="0">
                <a:solidFill>
                  <a:srgbClr val="00468C"/>
                </a:solidFill>
              </a:rPr>
              <a:t>Clustering — K-Means &amp; CAH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464CF-BB77-51EB-D4EE-AEEA19A142DC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21105-7C1F-5CE8-390A-3C222506C8C5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8C8C8C"/>
                </a:solidFill>
              </a:rPr>
              <a:t>1</a:t>
            </a:r>
            <a:r>
              <a:rPr lang="fr-FR" sz="1000" dirty="0">
                <a:solidFill>
                  <a:srgbClr val="8C8C8C"/>
                </a:solidFill>
              </a:rPr>
              <a:t>8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7987D44-9A03-5B1D-9F5B-594BB43EA910}"/>
              </a:ext>
            </a:extLst>
          </p:cNvPr>
          <p:cNvSpPr txBox="1"/>
          <p:nvPr/>
        </p:nvSpPr>
        <p:spPr>
          <a:xfrm>
            <a:off x="320040" y="1022341"/>
            <a:ext cx="1122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468C"/>
                </a:solidFill>
              </a:rPr>
              <a:t>K-Means : </a:t>
            </a:r>
            <a:r>
              <a:rPr lang="fr-FR" dirty="0"/>
              <a:t>partitionne la population selon l’IMC </a:t>
            </a:r>
            <a:r>
              <a:rPr lang="fr-FR" dirty="0" err="1"/>
              <a:t>bmi</a:t>
            </a:r>
            <a:r>
              <a:rPr lang="fr-FR" dirty="0"/>
              <a:t> (</a:t>
            </a:r>
            <a:r>
              <a:rPr lang="fr-FR" dirty="0" err="1"/>
              <a:t>σ</a:t>
            </a:r>
            <a:r>
              <a:rPr lang="fr-FR" dirty="0"/>
              <a:t> = 6.3) et la pression artérielle systolique </a:t>
            </a:r>
            <a:r>
              <a:rPr lang="fr-FR" dirty="0" err="1"/>
              <a:t>systolic_bp</a:t>
            </a:r>
            <a:r>
              <a:rPr lang="fr-FR" dirty="0"/>
              <a:t> (</a:t>
            </a:r>
            <a:r>
              <a:rPr lang="fr-FR" dirty="0" err="1"/>
              <a:t>σ</a:t>
            </a:r>
            <a:r>
              <a:rPr lang="fr-FR" dirty="0"/>
              <a:t> = 26.0).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710E19B-3D98-6EDB-7C1F-998B40DA2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91"/>
          <a:stretch>
            <a:fillRect/>
          </a:stretch>
        </p:blipFill>
        <p:spPr>
          <a:xfrm>
            <a:off x="2226500" y="1525016"/>
            <a:ext cx="7735824" cy="146772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8C1F4475-83B9-5A41-CAD3-9FF566FC3AEC}"/>
              </a:ext>
            </a:extLst>
          </p:cNvPr>
          <p:cNvSpPr txBox="1"/>
          <p:nvPr/>
        </p:nvSpPr>
        <p:spPr>
          <a:xfrm>
            <a:off x="320040" y="3429000"/>
            <a:ext cx="11228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468C"/>
                </a:solidFill>
              </a:rPr>
              <a:t>CAH : </a:t>
            </a:r>
            <a:r>
              <a:rPr lang="fr-FR" dirty="0"/>
              <a:t>construit un dendrogramme en fusionnant progressivement les clusters les plus proches.</a:t>
            </a:r>
          </a:p>
          <a:p>
            <a:endParaRPr lang="fr-FR" dirty="0"/>
          </a:p>
          <a:p>
            <a:r>
              <a:rPr lang="fr-FR" dirty="0"/>
              <a:t>Ward cherche des sous-groupes homogènes, y compris sur des variables binaires comme </a:t>
            </a:r>
            <a:r>
              <a:rPr lang="fr-FR" dirty="0" err="1"/>
              <a:t>smoker</a:t>
            </a:r>
            <a:r>
              <a:rPr lang="fr-FR" dirty="0"/>
              <a:t>. 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F8C37EA-B3BA-6252-7C92-F2CCF7B59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301" y="4489026"/>
            <a:ext cx="7580219" cy="1531836"/>
          </a:xfrm>
          <a:prstGeom prst="rect">
            <a:avLst/>
          </a:prstGeom>
        </p:spPr>
      </p:pic>
      <p:sp>
        <p:nvSpPr>
          <p:cNvPr id="24" name="TextBox 12">
            <a:extLst>
              <a:ext uri="{FF2B5EF4-FFF2-40B4-BE49-F238E27FC236}">
                <a16:creationId xmlns:a16="http://schemas.microsoft.com/office/drawing/2014/main" id="{0C12D22D-4C28-A088-EDD6-FADB54579E98}"/>
              </a:ext>
            </a:extLst>
          </p:cNvPr>
          <p:cNvSpPr txBox="1"/>
          <p:nvPr/>
        </p:nvSpPr>
        <p:spPr>
          <a:xfrm>
            <a:off x="3303183" y="3030694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9.2 </a:t>
            </a:r>
            <a:r>
              <a:rPr lang="fr-FR" sz="1100" i="1" dirty="0">
                <a:solidFill>
                  <a:srgbClr val="646464"/>
                </a:solidFill>
              </a:rPr>
              <a:t>— </a:t>
            </a:r>
            <a:r>
              <a:rPr lang="fr-FR" sz="1100" b="0" i="1" dirty="0">
                <a:solidFill>
                  <a:srgbClr val="646464"/>
                </a:solidFill>
              </a:rPr>
              <a:t>Profils des clusters K-Means (k = 3)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6367A9B2-AC69-5E55-D85D-8A914F44FF3B}"/>
              </a:ext>
            </a:extLst>
          </p:cNvPr>
          <p:cNvSpPr txBox="1"/>
          <p:nvPr/>
        </p:nvSpPr>
        <p:spPr>
          <a:xfrm>
            <a:off x="3463138" y="6057965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9.3 </a:t>
            </a:r>
            <a:r>
              <a:rPr lang="fr-FR" sz="1100" i="1" dirty="0">
                <a:solidFill>
                  <a:srgbClr val="646464"/>
                </a:solidFill>
              </a:rPr>
              <a:t>— </a:t>
            </a:r>
            <a:r>
              <a:rPr lang="fr-FR" sz="1100" b="0" i="1" dirty="0">
                <a:solidFill>
                  <a:srgbClr val="646464"/>
                </a:solidFill>
              </a:rPr>
              <a:t>Profils des clusters CAH (k = 3, n = 5 000)</a:t>
            </a:r>
          </a:p>
        </p:txBody>
      </p:sp>
    </p:spTree>
    <p:extLst>
      <p:ext uri="{BB962C8B-B14F-4D97-AF65-F5344CB8AC3E}">
        <p14:creationId xmlns:p14="http://schemas.microsoft.com/office/powerpoint/2010/main" val="652399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0143-E527-3843-0957-EAA11D10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617DB-FED5-CCCD-A6E0-2E84418E1671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0CE36-F573-4DA5-FA51-4FA614FD8E41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IX. </a:t>
            </a:r>
            <a:r>
              <a:rPr sz="2400" b="1" i="0" dirty="0">
                <a:solidFill>
                  <a:srgbClr val="00468C"/>
                </a:solidFill>
              </a:rPr>
              <a:t>Clustering — </a:t>
            </a:r>
            <a:r>
              <a:rPr lang="fr-FR" sz="2400" b="1" i="0" dirty="0">
                <a:solidFill>
                  <a:srgbClr val="00468C"/>
                </a:solidFill>
              </a:rPr>
              <a:t>Evaluation et visualisation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A4C16-7E3F-4219-D8A0-80D26DEEF509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kmeans_pca.png">
            <a:extLst>
              <a:ext uri="{FF2B5EF4-FFF2-40B4-BE49-F238E27FC236}">
                <a16:creationId xmlns:a16="http://schemas.microsoft.com/office/drawing/2014/main" id="{CC804A4B-E064-7D53-5103-0A41157487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4836" r="1189" b="2014"/>
          <a:stretch>
            <a:fillRect/>
          </a:stretch>
        </p:blipFill>
        <p:spPr>
          <a:xfrm>
            <a:off x="6784118" y="2205826"/>
            <a:ext cx="5016214" cy="40167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90F02F-FE11-C6FB-07A0-36C7838C80A1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8C8C8C"/>
                </a:solidFill>
              </a:rPr>
              <a:t>1</a:t>
            </a:r>
            <a:r>
              <a:rPr lang="fr-FR" sz="1000" b="0" i="0" dirty="0">
                <a:solidFill>
                  <a:srgbClr val="8C8C8C"/>
                </a:solidFill>
              </a:rPr>
              <a:t>9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D675790-5DB4-A1C1-E48F-7A349D36C434}"/>
              </a:ext>
            </a:extLst>
          </p:cNvPr>
          <p:cNvSpPr txBox="1"/>
          <p:nvPr/>
        </p:nvSpPr>
        <p:spPr>
          <a:xfrm>
            <a:off x="320040" y="1048553"/>
            <a:ext cx="115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par ACP : données vivent dans un espace à 15 dimensions : il est impossible de les représenter directement.</a:t>
            </a:r>
          </a:p>
          <a:p>
            <a:r>
              <a:rPr lang="fr-FR" dirty="0"/>
              <a:t>Les deux premières composantes expliquent 24.3% de la variance totale.</a:t>
            </a:r>
          </a:p>
          <a:p>
            <a:r>
              <a:rPr lang="fr-FR" dirty="0"/>
              <a:t>Avec 15 variables quasi-indépendantes (l’EDA) : 24.3% en 2D est donc attendu.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3BF8961-37A3-B2AA-0E55-6DD81EEB0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534"/>
          <a:stretch>
            <a:fillRect/>
          </a:stretch>
        </p:blipFill>
        <p:spPr>
          <a:xfrm>
            <a:off x="319913" y="2382354"/>
            <a:ext cx="6223000" cy="62169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20DE8DE5-D4DD-0D0C-AE6A-A6B4F5164FCD}"/>
              </a:ext>
            </a:extLst>
          </p:cNvPr>
          <p:cNvSpPr txBox="1"/>
          <p:nvPr/>
        </p:nvSpPr>
        <p:spPr>
          <a:xfrm>
            <a:off x="319913" y="3971515"/>
            <a:ext cx="622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Malgré des silhouettes faibles (≈ 0.10), on a des profils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obèse hypertendu (K-Means)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fumeurs intenses + hypertendus(CAH)</a:t>
            </a:r>
          </a:p>
          <a:p>
            <a:endParaRPr lang="fr-FR" sz="1600" dirty="0"/>
          </a:p>
          <a:p>
            <a:pPr algn="ctr"/>
            <a:r>
              <a:rPr lang="fr-FR" sz="1600" dirty="0"/>
              <a:t>La faible silhouette reflète l’absence de groupes naturels francs dans des données synthétiques générées sans structure causale — pas une erreur méthodologique.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F1FA232-ADDD-58C3-985A-F693A553F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191"/>
          <a:stretch>
            <a:fillRect/>
          </a:stretch>
        </p:blipFill>
        <p:spPr>
          <a:xfrm>
            <a:off x="319913" y="3068698"/>
            <a:ext cx="6223000" cy="367214"/>
          </a:xfrm>
          <a:prstGeom prst="rect">
            <a:avLst/>
          </a:prstGeom>
        </p:spPr>
      </p:pic>
      <p:sp>
        <p:nvSpPr>
          <p:cNvPr id="23" name="TextBox 12">
            <a:extLst>
              <a:ext uri="{FF2B5EF4-FFF2-40B4-BE49-F238E27FC236}">
                <a16:creationId xmlns:a16="http://schemas.microsoft.com/office/drawing/2014/main" id="{38A02CD4-4C96-CE77-7200-F7AD1607E084}"/>
              </a:ext>
            </a:extLst>
          </p:cNvPr>
          <p:cNvSpPr txBox="1"/>
          <p:nvPr/>
        </p:nvSpPr>
        <p:spPr>
          <a:xfrm>
            <a:off x="800140" y="3495760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0" i="1" dirty="0">
                <a:solidFill>
                  <a:srgbClr val="646464"/>
                </a:solidFill>
              </a:rPr>
              <a:t>Table 9.4 </a:t>
            </a:r>
            <a:r>
              <a:rPr lang="fr-FR" sz="1100" i="1" dirty="0">
                <a:solidFill>
                  <a:srgbClr val="646464"/>
                </a:solidFill>
              </a:rPr>
              <a:t>— Comparaison K-Means vs CAH</a:t>
            </a:r>
            <a:endParaRPr lang="fr-FR" sz="1100" b="0" i="1" dirty="0">
              <a:solidFill>
                <a:srgbClr val="646464"/>
              </a:solidFill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07B140B0-008C-9140-B6C8-9DDB6238925E}"/>
              </a:ext>
            </a:extLst>
          </p:cNvPr>
          <p:cNvSpPr txBox="1"/>
          <p:nvPr/>
        </p:nvSpPr>
        <p:spPr>
          <a:xfrm>
            <a:off x="6784118" y="6235089"/>
            <a:ext cx="52625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i="1" dirty="0">
                <a:solidFill>
                  <a:srgbClr val="646464"/>
                </a:solidFill>
              </a:rPr>
              <a:t>Figure 9.2</a:t>
            </a:r>
            <a:r>
              <a:rPr lang="fr-FR" sz="1100" b="0" i="1" dirty="0">
                <a:solidFill>
                  <a:srgbClr val="646464"/>
                </a:solidFill>
              </a:rPr>
              <a:t> </a:t>
            </a:r>
            <a:r>
              <a:rPr lang="fr-FR" sz="1100" i="1" dirty="0">
                <a:solidFill>
                  <a:srgbClr val="646464"/>
                </a:solidFill>
              </a:rPr>
              <a:t>—Visualisation des clusters K-Means (k = 3) par projection ACP (2 composantes, 24.3% de variance)</a:t>
            </a:r>
          </a:p>
        </p:txBody>
      </p:sp>
    </p:spTree>
    <p:extLst>
      <p:ext uri="{BB962C8B-B14F-4D97-AF65-F5344CB8AC3E}">
        <p14:creationId xmlns:p14="http://schemas.microsoft.com/office/powerpoint/2010/main" val="1234713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rgbClr val="00468C"/>
                </a:solidFill>
              </a:rPr>
              <a:t>X. </a:t>
            </a:r>
            <a:r>
              <a:rPr sz="2400" b="1" i="0" dirty="0" err="1">
                <a:solidFill>
                  <a:srgbClr val="00468C"/>
                </a:solidFill>
              </a:rPr>
              <a:t>Interprétabilité</a:t>
            </a:r>
            <a:r>
              <a:rPr sz="2400" b="1" i="0" dirty="0">
                <a:solidFill>
                  <a:srgbClr val="00468C"/>
                </a:solidFill>
              </a:rPr>
              <a:t> — 5 </a:t>
            </a:r>
            <a:r>
              <a:rPr sz="2400" b="1" i="0" dirty="0" err="1">
                <a:solidFill>
                  <a:srgbClr val="00468C"/>
                </a:solidFill>
              </a:rPr>
              <a:t>méthodes</a:t>
            </a:r>
            <a:r>
              <a:rPr sz="2400" b="1" i="0" dirty="0">
                <a:solidFill>
                  <a:srgbClr val="00468C"/>
                </a:solidFill>
              </a:rPr>
              <a:t> </a:t>
            </a:r>
            <a:r>
              <a:rPr sz="2400" b="1" i="0" dirty="0" err="1">
                <a:solidFill>
                  <a:srgbClr val="00468C"/>
                </a:solidFill>
              </a:rPr>
              <a:t>comparées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20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04D8DE4-6D2D-878B-D0EF-03991F3C4E4E}"/>
              </a:ext>
            </a:extLst>
          </p:cNvPr>
          <p:cNvSpPr txBox="1"/>
          <p:nvPr/>
        </p:nvSpPr>
        <p:spPr>
          <a:xfrm>
            <a:off x="320040" y="970314"/>
            <a:ext cx="1038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outils d’interprétabilité convergent-ils vers les mêmes variables influentes, même en l’absence de signal ?</a:t>
            </a:r>
          </a:p>
          <a:p>
            <a:r>
              <a:rPr lang="fr-FR" b="1" dirty="0">
                <a:solidFill>
                  <a:schemeClr val="tx2"/>
                </a:solidFill>
              </a:rPr>
              <a:t>Outils utilisés : </a:t>
            </a:r>
            <a:r>
              <a:rPr lang="fr-FR" dirty="0" err="1"/>
              <a:t>coeﬃcients</a:t>
            </a:r>
            <a:r>
              <a:rPr lang="fr-FR" dirty="0"/>
              <a:t> des modèles linéaires, impureté de Gini et SHAP (complément visuel).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0107D3E-2357-E7E8-7B16-3C9B2A1E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12" y="2182806"/>
            <a:ext cx="4826000" cy="1358900"/>
          </a:xfrm>
          <a:prstGeom prst="rect">
            <a:avLst/>
          </a:prstGeom>
        </p:spPr>
      </p:pic>
      <p:pic>
        <p:nvPicPr>
          <p:cNvPr id="21" name="Picture 12" descr="shap_summary.png">
            <a:extLst>
              <a:ext uri="{FF2B5EF4-FFF2-40B4-BE49-F238E27FC236}">
                <a16:creationId xmlns:a16="http://schemas.microsoft.com/office/drawing/2014/main" id="{266C0B40-0149-7166-7788-B0722A32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03"/>
          <a:stretch>
            <a:fillRect/>
          </a:stretch>
        </p:blipFill>
        <p:spPr>
          <a:xfrm>
            <a:off x="6813706" y="2050163"/>
            <a:ext cx="4506086" cy="4361980"/>
          </a:xfrm>
          <a:prstGeom prst="rect">
            <a:avLst/>
          </a:prstGeom>
        </p:spPr>
      </p:pic>
      <p:sp>
        <p:nvSpPr>
          <p:cNvPr id="22" name="TextBox 9">
            <a:extLst>
              <a:ext uri="{FF2B5EF4-FFF2-40B4-BE49-F238E27FC236}">
                <a16:creationId xmlns:a16="http://schemas.microsoft.com/office/drawing/2014/main" id="{7CA4A725-BC55-EDDD-624A-1C592775F753}"/>
              </a:ext>
            </a:extLst>
          </p:cNvPr>
          <p:cNvSpPr txBox="1"/>
          <p:nvPr/>
        </p:nvSpPr>
        <p:spPr>
          <a:xfrm>
            <a:off x="320040" y="4231153"/>
            <a:ext cx="64028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000000"/>
                </a:solidFill>
              </a:rPr>
              <a:t>Les 5 </a:t>
            </a:r>
            <a:r>
              <a:rPr sz="1600" dirty="0" err="1">
                <a:solidFill>
                  <a:srgbClr val="000000"/>
                </a:solidFill>
              </a:rPr>
              <a:t>méthodes</a:t>
            </a:r>
            <a:r>
              <a:rPr sz="1600" dirty="0">
                <a:solidFill>
                  <a:srgbClr val="000000"/>
                </a:solidFill>
              </a:rPr>
              <a:t> ne convergent pas</a:t>
            </a:r>
            <a:r>
              <a:rPr lang="fr-FR" sz="1600" dirty="0">
                <a:solidFill>
                  <a:srgbClr val="000000"/>
                </a:solidFill>
              </a:rPr>
              <a:t>,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mesurent</a:t>
            </a:r>
            <a:r>
              <a:rPr sz="1600" dirty="0">
                <a:solidFill>
                  <a:srgbClr val="000000"/>
                </a:solidFill>
              </a:rPr>
              <a:t> du bruit </a:t>
            </a:r>
            <a:r>
              <a:rPr sz="1600" dirty="0" err="1">
                <a:solidFill>
                  <a:srgbClr val="000000"/>
                </a:solidFill>
              </a:rPr>
              <a:t>aléatoire</a:t>
            </a:r>
            <a:endParaRPr lang="fr-FR" sz="16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 err="1">
                <a:solidFill>
                  <a:srgbClr val="000000"/>
                </a:solidFill>
              </a:rPr>
              <a:t>systolic_bp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partout</a:t>
            </a:r>
            <a:r>
              <a:rPr sz="1600" dirty="0">
                <a:solidFill>
                  <a:srgbClr val="000000"/>
                </a:solidFill>
              </a:rPr>
              <a:t> : grande variance, pas signal causal</a:t>
            </a:r>
            <a:endParaRPr lang="fr-FR" sz="16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000000"/>
                </a:solidFill>
              </a:rPr>
              <a:t>Divergence = </a:t>
            </a:r>
            <a:r>
              <a:rPr sz="1600" dirty="0" err="1">
                <a:solidFill>
                  <a:srgbClr val="000000"/>
                </a:solidFill>
              </a:rPr>
              <a:t>résultat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analytique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en</a:t>
            </a:r>
            <a:r>
              <a:rPr sz="1600" dirty="0">
                <a:solidFill>
                  <a:srgbClr val="000000"/>
                </a:solidFill>
              </a:rPr>
              <a:t> soi (Rudin 2019)</a:t>
            </a:r>
          </a:p>
          <a:p>
            <a:endParaRPr lang="fr-FR" sz="1600" dirty="0">
              <a:solidFill>
                <a:srgbClr val="000000"/>
              </a:solidFill>
            </a:endParaRPr>
          </a:p>
          <a:p>
            <a:pPr algn="ctr"/>
            <a:r>
              <a:rPr sz="1600" b="1" dirty="0">
                <a:solidFill>
                  <a:schemeClr val="tx2"/>
                </a:solidFill>
              </a:rPr>
              <a:t>Sur données </a:t>
            </a:r>
            <a:r>
              <a:rPr sz="1600" b="1" dirty="0" err="1">
                <a:solidFill>
                  <a:schemeClr val="tx2"/>
                </a:solidFill>
              </a:rPr>
              <a:t>réelles</a:t>
            </a:r>
            <a:r>
              <a:rPr sz="1600" b="1" dirty="0">
                <a:solidFill>
                  <a:schemeClr val="tx2"/>
                </a:solidFill>
              </a:rPr>
              <a:t> : </a:t>
            </a:r>
            <a:r>
              <a:rPr sz="1600" b="1" dirty="0" err="1">
                <a:solidFill>
                  <a:schemeClr val="tx2"/>
                </a:solidFill>
              </a:rPr>
              <a:t>cholestérol</a:t>
            </a:r>
            <a:r>
              <a:rPr sz="1600" b="1" dirty="0">
                <a:solidFill>
                  <a:schemeClr val="tx2"/>
                </a:solidFill>
              </a:rPr>
              <a:t>, </a:t>
            </a:r>
            <a:r>
              <a:rPr sz="1600" b="1" dirty="0" err="1">
                <a:solidFill>
                  <a:schemeClr val="tx2"/>
                </a:solidFill>
              </a:rPr>
              <a:t>tabagisme</a:t>
            </a:r>
            <a:r>
              <a:rPr sz="1600" b="1" dirty="0">
                <a:solidFill>
                  <a:schemeClr val="tx2"/>
                </a:solidFill>
              </a:rPr>
              <a:t>, IMC </a:t>
            </a:r>
            <a:r>
              <a:rPr sz="1600" b="1" dirty="0" err="1">
                <a:solidFill>
                  <a:schemeClr val="tx2"/>
                </a:solidFill>
              </a:rPr>
              <a:t>domineraient</a:t>
            </a:r>
            <a:endParaRPr sz="1600" b="1" dirty="0">
              <a:solidFill>
                <a:schemeClr val="tx2"/>
              </a:solidFill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B9746FD8-94C9-E200-031D-019E8651CCA1}"/>
              </a:ext>
            </a:extLst>
          </p:cNvPr>
          <p:cNvSpPr txBox="1"/>
          <p:nvPr/>
        </p:nvSpPr>
        <p:spPr>
          <a:xfrm>
            <a:off x="1050139" y="3585367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i="1" dirty="0">
                <a:solidFill>
                  <a:srgbClr val="646464"/>
                </a:solidFill>
              </a:rPr>
              <a:t>Table 10.1 – Variables dans le top 5 de chaque méthode d’interprétabilité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F9A98B92-736A-A994-AECB-B5085B28BA29}"/>
              </a:ext>
            </a:extLst>
          </p:cNvPr>
          <p:cNvSpPr txBox="1"/>
          <p:nvPr/>
        </p:nvSpPr>
        <p:spPr>
          <a:xfrm>
            <a:off x="6435476" y="6401644"/>
            <a:ext cx="52625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i="1" dirty="0">
                <a:solidFill>
                  <a:srgbClr val="646464"/>
                </a:solidFill>
              </a:rPr>
              <a:t>Figure 10.1 – SHAP </a:t>
            </a:r>
            <a:r>
              <a:rPr lang="fr-FR" sz="1100" i="1" dirty="0" err="1">
                <a:solidFill>
                  <a:srgbClr val="646464"/>
                </a:solidFill>
              </a:rPr>
              <a:t>summary</a:t>
            </a:r>
            <a:r>
              <a:rPr lang="fr-FR" sz="1100" i="1" dirty="0">
                <a:solidFill>
                  <a:srgbClr val="646464"/>
                </a:solidFill>
              </a:rPr>
              <a:t> plot (</a:t>
            </a:r>
            <a:r>
              <a:rPr lang="fr-FR" sz="1100" i="1" dirty="0" err="1">
                <a:solidFill>
                  <a:srgbClr val="646464"/>
                </a:solidFill>
              </a:rPr>
              <a:t>XGBoost</a:t>
            </a:r>
            <a:r>
              <a:rPr lang="fr-FR" sz="1100" i="1" dirty="0">
                <a:solidFill>
                  <a:srgbClr val="646464"/>
                </a:solidFill>
              </a:rPr>
              <a:t>) — complément visuel d’interprétabilité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468C"/>
                </a:solidFill>
              </a:rPr>
              <a:t>X. Interprétabilité — </a:t>
            </a:r>
            <a:r>
              <a:rPr sz="2400" b="1" i="0" dirty="0" err="1">
                <a:solidFill>
                  <a:srgbClr val="00468C"/>
                </a:solidFill>
              </a:rPr>
              <a:t>Résultat</a:t>
            </a:r>
            <a:r>
              <a:rPr sz="2400" b="1" i="0" dirty="0">
                <a:solidFill>
                  <a:srgbClr val="00468C"/>
                </a:solidFill>
              </a:rPr>
              <a:t>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90322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chemeClr val="tx2"/>
                </a:solidFill>
              </a:rPr>
              <a:t>Limite</a:t>
            </a:r>
            <a:r>
              <a:rPr b="1" i="0" dirty="0">
                <a:solidFill>
                  <a:schemeClr val="tx2"/>
                </a:solidFill>
              </a:rPr>
              <a:t> </a:t>
            </a:r>
            <a:r>
              <a:rPr b="1" i="0" dirty="0" err="1">
                <a:solidFill>
                  <a:schemeClr val="tx2"/>
                </a:solidFill>
              </a:rPr>
              <a:t>fondamentale</a:t>
            </a:r>
            <a:r>
              <a:rPr b="1" i="0" dirty="0">
                <a:solidFill>
                  <a:schemeClr val="tx2"/>
                </a:solidFill>
              </a:rPr>
              <a:t> du dataset </a:t>
            </a:r>
            <a:r>
              <a:rPr b="1" i="0" dirty="0" err="1">
                <a:solidFill>
                  <a:schemeClr val="tx2"/>
                </a:solidFill>
              </a:rPr>
              <a:t>synthétique</a:t>
            </a:r>
            <a:endParaRPr b="1" i="0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780" y="1419230"/>
            <a:ext cx="1127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dirty="0">
                <a:solidFill>
                  <a:srgbClr val="000000"/>
                </a:solidFill>
              </a:rPr>
              <a:t>V</a:t>
            </a:r>
            <a:r>
              <a:rPr b="0" i="0" dirty="0" err="1">
                <a:solidFill>
                  <a:srgbClr val="000000"/>
                </a:solidFill>
              </a:rPr>
              <a:t>ariables</a:t>
            </a:r>
            <a:r>
              <a:rPr b="0" i="0" dirty="0">
                <a:solidFill>
                  <a:srgbClr val="000000"/>
                </a:solidFill>
              </a:rPr>
              <a:t> </a:t>
            </a:r>
            <a:r>
              <a:rPr b="0" i="0" dirty="0" err="1">
                <a:solidFill>
                  <a:srgbClr val="000000"/>
                </a:solidFill>
              </a:rPr>
              <a:t>générées</a:t>
            </a:r>
            <a:r>
              <a:rPr b="0" i="0" dirty="0">
                <a:solidFill>
                  <a:srgbClr val="000000"/>
                </a:solidFill>
              </a:rPr>
              <a:t> </a:t>
            </a:r>
            <a:r>
              <a:rPr b="0" i="0" dirty="0" err="1">
                <a:solidFill>
                  <a:srgbClr val="000000"/>
                </a:solidFill>
              </a:rPr>
              <a:t>indépendamment</a:t>
            </a:r>
            <a:r>
              <a:rPr b="0" i="0" dirty="0">
                <a:solidFill>
                  <a:srgbClr val="000000"/>
                </a:solidFill>
              </a:rPr>
              <a:t> — sans relation </a:t>
            </a:r>
            <a:r>
              <a:rPr b="0" i="0" dirty="0" err="1">
                <a:solidFill>
                  <a:srgbClr val="000000"/>
                </a:solidFill>
              </a:rPr>
              <a:t>causale</a:t>
            </a:r>
            <a:r>
              <a:rPr b="0" i="0" dirty="0">
                <a:solidFill>
                  <a:srgbClr val="000000"/>
                </a:solidFill>
              </a:rPr>
              <a:t> </a:t>
            </a:r>
            <a:r>
              <a:rPr b="0" i="0" dirty="0" err="1">
                <a:solidFill>
                  <a:srgbClr val="000000"/>
                </a:solidFill>
              </a:rPr>
              <a:t>encodée</a:t>
            </a:r>
            <a:r>
              <a:rPr b="0" i="0" dirty="0">
                <a:solidFill>
                  <a:srgbClr val="000000"/>
                </a:solidFill>
              </a:rPr>
              <a:t>. </a:t>
            </a:r>
            <a:endParaRPr lang="fr-FR" b="0" i="0" dirty="0">
              <a:solidFill>
                <a:srgbClr val="000000"/>
              </a:solidFill>
            </a:endParaRPr>
          </a:p>
          <a:p>
            <a:pPr algn="l"/>
            <a:r>
              <a:rPr b="0" i="0" dirty="0" err="1">
                <a:solidFill>
                  <a:srgbClr val="000000"/>
                </a:solidFill>
              </a:rPr>
              <a:t>Aucune</a:t>
            </a:r>
            <a:r>
              <a:rPr b="0" i="0" dirty="0">
                <a:solidFill>
                  <a:srgbClr val="000000"/>
                </a:solidFill>
              </a:rPr>
              <a:t> technique ne </a:t>
            </a:r>
            <a:r>
              <a:rPr b="0" i="0" dirty="0" err="1">
                <a:solidFill>
                  <a:srgbClr val="000000"/>
                </a:solidFill>
              </a:rPr>
              <a:t>peut</a:t>
            </a:r>
            <a:r>
              <a:rPr b="0" i="0" dirty="0">
                <a:solidFill>
                  <a:srgbClr val="000000"/>
                </a:solidFill>
              </a:rPr>
              <a:t> </a:t>
            </a:r>
            <a:r>
              <a:rPr b="0" i="0" dirty="0" err="1">
                <a:solidFill>
                  <a:srgbClr val="000000"/>
                </a:solidFill>
              </a:rPr>
              <a:t>extraire</a:t>
            </a:r>
            <a:r>
              <a:rPr b="0" i="0" dirty="0">
                <a:solidFill>
                  <a:srgbClr val="000000"/>
                </a:solidFill>
              </a:rPr>
              <a:t> un signal qui </a:t>
            </a:r>
            <a:r>
              <a:rPr b="0" i="0" dirty="0" err="1">
                <a:solidFill>
                  <a:srgbClr val="000000"/>
                </a:solidFill>
              </a:rPr>
              <a:t>n'existe</a:t>
            </a:r>
            <a:r>
              <a:rPr b="0" i="0" dirty="0">
                <a:solidFill>
                  <a:srgbClr val="000000"/>
                </a:solidFill>
              </a:rPr>
              <a:t>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80" y="2258180"/>
            <a:ext cx="53949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chemeClr val="tx2"/>
                </a:solidFill>
              </a:rPr>
              <a:t>Preuves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b="1" dirty="0" err="1">
                <a:solidFill>
                  <a:schemeClr val="tx2"/>
                </a:solidFill>
              </a:rPr>
              <a:t>convergentes</a:t>
            </a:r>
            <a:endParaRPr lang="fr-FR" b="1" dirty="0">
              <a:solidFill>
                <a:schemeClr val="tx2"/>
              </a:solidFill>
            </a:endParaRPr>
          </a:p>
          <a:p>
            <a:pPr algn="l"/>
            <a:endParaRPr b="1" dirty="0">
              <a:solidFill>
                <a:srgbClr val="FF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Corrélations</a:t>
            </a:r>
            <a:r>
              <a:rPr dirty="0">
                <a:solidFill>
                  <a:srgbClr val="000000"/>
                </a:solidFill>
              </a:rPr>
              <a:t> &lt; 0.01 </a:t>
            </a:r>
            <a:r>
              <a:rPr dirty="0" err="1">
                <a:solidFill>
                  <a:srgbClr val="000000"/>
                </a:solidFill>
              </a:rPr>
              <a:t>dès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l'EDA</a:t>
            </a:r>
            <a:r>
              <a:rPr dirty="0">
                <a:solidFill>
                  <a:srgbClr val="000000"/>
                </a:solidFill>
              </a:rPr>
              <a:t> le </a:t>
            </a:r>
            <a:r>
              <a:rPr dirty="0" err="1">
                <a:solidFill>
                  <a:srgbClr val="000000"/>
                </a:solidFill>
              </a:rPr>
              <a:t>prédisait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Lasso : 16/16 coefficients = 0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R² ≈ 0 et AUC ≈ 0.5 pour </a:t>
            </a:r>
            <a:r>
              <a:rPr dirty="0" err="1">
                <a:solidFill>
                  <a:srgbClr val="000000"/>
                </a:solidFill>
              </a:rPr>
              <a:t>tous</a:t>
            </a:r>
            <a:r>
              <a:rPr dirty="0">
                <a:solidFill>
                  <a:srgbClr val="000000"/>
                </a:solidFill>
              </a:rPr>
              <a:t> les </a:t>
            </a:r>
            <a:r>
              <a:rPr dirty="0" err="1">
                <a:solidFill>
                  <a:srgbClr val="000000"/>
                </a:solidFill>
              </a:rPr>
              <a:t>modèles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Data leakage </a:t>
            </a:r>
            <a:r>
              <a:rPr dirty="0" err="1">
                <a:solidFill>
                  <a:srgbClr val="000000"/>
                </a:solidFill>
              </a:rPr>
              <a:t>détecté</a:t>
            </a:r>
            <a:r>
              <a:rPr dirty="0">
                <a:solidFill>
                  <a:srgbClr val="000000"/>
                </a:solidFill>
              </a:rPr>
              <a:t> et </a:t>
            </a:r>
            <a:r>
              <a:rPr dirty="0" err="1">
                <a:solidFill>
                  <a:srgbClr val="000000"/>
                </a:solidFill>
              </a:rPr>
              <a:t>corrigé</a:t>
            </a:r>
            <a:r>
              <a:rPr dirty="0">
                <a:solidFill>
                  <a:srgbClr val="000000"/>
                </a:solidFill>
              </a:rPr>
              <a:t> (R² 0.675 → 0)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Interprétabilité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divergente</a:t>
            </a:r>
            <a:r>
              <a:rPr dirty="0">
                <a:solidFill>
                  <a:srgbClr val="000000"/>
                </a:solidFill>
              </a:rPr>
              <a:t> (5 </a:t>
            </a:r>
            <a:r>
              <a:rPr dirty="0" err="1">
                <a:solidFill>
                  <a:srgbClr val="000000"/>
                </a:solidFill>
              </a:rPr>
              <a:t>méthodes</a:t>
            </a:r>
            <a:r>
              <a:rPr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2718" y="2256549"/>
            <a:ext cx="65060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468C"/>
                </a:solidFill>
              </a:rPr>
              <a:t>Ce </a:t>
            </a:r>
            <a:r>
              <a:rPr b="1" dirty="0" err="1">
                <a:solidFill>
                  <a:srgbClr val="00468C"/>
                </a:solidFill>
              </a:rPr>
              <a:t>n'est</a:t>
            </a:r>
            <a:r>
              <a:rPr b="1" dirty="0">
                <a:solidFill>
                  <a:srgbClr val="00468C"/>
                </a:solidFill>
              </a:rPr>
              <a:t> pas un </a:t>
            </a:r>
            <a:r>
              <a:rPr b="1" dirty="0" err="1">
                <a:solidFill>
                  <a:srgbClr val="00468C"/>
                </a:solidFill>
              </a:rPr>
              <a:t>échec</a:t>
            </a:r>
            <a:r>
              <a:rPr b="1" dirty="0">
                <a:solidFill>
                  <a:srgbClr val="00468C"/>
                </a:solidFill>
              </a:rPr>
              <a:t> — </a:t>
            </a:r>
            <a:r>
              <a:rPr b="1" dirty="0" err="1">
                <a:solidFill>
                  <a:srgbClr val="00468C"/>
                </a:solidFill>
              </a:rPr>
              <a:t>valeur</a:t>
            </a:r>
            <a:r>
              <a:rPr b="1" dirty="0">
                <a:solidFill>
                  <a:srgbClr val="00468C"/>
                </a:solidFill>
              </a:rPr>
              <a:t> </a:t>
            </a:r>
            <a:r>
              <a:rPr b="1" dirty="0" err="1">
                <a:solidFill>
                  <a:srgbClr val="00468C"/>
                </a:solidFill>
              </a:rPr>
              <a:t>méthodologique</a:t>
            </a:r>
            <a:endParaRPr lang="fr-FR" b="1" dirty="0">
              <a:solidFill>
                <a:srgbClr val="00468C"/>
              </a:solidFill>
            </a:endParaRPr>
          </a:p>
          <a:p>
            <a:pPr algn="l"/>
            <a:endParaRPr b="1" dirty="0">
              <a:solidFill>
                <a:srgbClr val="00468C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Pipeline </a:t>
            </a:r>
            <a:r>
              <a:rPr dirty="0" err="1">
                <a:solidFill>
                  <a:srgbClr val="000000"/>
                </a:solidFill>
              </a:rPr>
              <a:t>complet</a:t>
            </a:r>
            <a:r>
              <a:rPr dirty="0">
                <a:solidFill>
                  <a:srgbClr val="000000"/>
                </a:solidFill>
              </a:rPr>
              <a:t> et </a:t>
            </a:r>
            <a:r>
              <a:rPr dirty="0" err="1">
                <a:solidFill>
                  <a:srgbClr val="000000"/>
                </a:solidFill>
              </a:rPr>
              <a:t>rigoureux</a:t>
            </a:r>
            <a:r>
              <a:rPr dirty="0">
                <a:solidFill>
                  <a:srgbClr val="000000"/>
                </a:solidFill>
              </a:rPr>
              <a:t> (CRISP-DM)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Détection</a:t>
            </a:r>
            <a:r>
              <a:rPr dirty="0">
                <a:solidFill>
                  <a:srgbClr val="000000"/>
                </a:solidFill>
              </a:rPr>
              <a:t> du data leakage — </a:t>
            </a:r>
            <a:r>
              <a:rPr dirty="0" err="1">
                <a:solidFill>
                  <a:srgbClr val="000000"/>
                </a:solidFill>
              </a:rPr>
              <a:t>piège</a:t>
            </a:r>
            <a:r>
              <a:rPr dirty="0">
                <a:solidFill>
                  <a:srgbClr val="000000"/>
                </a:solidFill>
              </a:rPr>
              <a:t> rare </a:t>
            </a:r>
            <a:r>
              <a:rPr dirty="0" err="1">
                <a:solidFill>
                  <a:srgbClr val="000000"/>
                </a:solidFill>
              </a:rPr>
              <a:t>en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cours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théoriques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Validation </a:t>
            </a:r>
            <a:r>
              <a:rPr dirty="0" err="1">
                <a:solidFill>
                  <a:srgbClr val="000000"/>
                </a:solidFill>
              </a:rPr>
              <a:t>croisée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stratifiée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systématique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000000"/>
                </a:solidFill>
              </a:rPr>
              <a:t>Directement</a:t>
            </a:r>
            <a:r>
              <a:rPr dirty="0">
                <a:solidFill>
                  <a:srgbClr val="000000"/>
                </a:solidFill>
              </a:rPr>
              <a:t> transposable à des données </a:t>
            </a:r>
            <a:r>
              <a:rPr dirty="0" err="1">
                <a:solidFill>
                  <a:srgbClr val="000000"/>
                </a:solidFill>
              </a:rPr>
              <a:t>réelles</a:t>
            </a:r>
            <a:r>
              <a:rPr dirty="0">
                <a:solidFill>
                  <a:srgbClr val="000000"/>
                </a:solidFill>
              </a:rPr>
              <a:t> (Framingham)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693834"/>
            <a:ext cx="11548872" cy="914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16" y="4899191"/>
            <a:ext cx="113659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/>
              <a:t>« Savoir </a:t>
            </a:r>
            <a:r>
              <a:rPr sz="1700" b="1" i="0" dirty="0" err="1"/>
              <a:t>diagnostiquer</a:t>
            </a:r>
            <a:r>
              <a:rPr sz="1700" b="1" i="0" dirty="0"/>
              <a:t> </a:t>
            </a:r>
            <a:r>
              <a:rPr sz="1700" b="1" i="0" dirty="0" err="1"/>
              <a:t>pourquoi</a:t>
            </a:r>
            <a:r>
              <a:rPr sz="1700" b="1" i="0" dirty="0"/>
              <a:t> un </a:t>
            </a:r>
            <a:r>
              <a:rPr sz="1700" b="1" i="0" dirty="0" err="1"/>
              <a:t>modèle</a:t>
            </a:r>
            <a:r>
              <a:rPr sz="1700" b="1" i="0" dirty="0"/>
              <a:t> </a:t>
            </a:r>
            <a:r>
              <a:rPr sz="1700" b="1" i="0" dirty="0" err="1"/>
              <a:t>échoue</a:t>
            </a:r>
            <a:r>
              <a:rPr sz="1700" b="1" i="0" dirty="0"/>
              <a:t> est </a:t>
            </a:r>
            <a:r>
              <a:rPr sz="1700" b="1" i="0" dirty="0" err="1"/>
              <a:t>aussi</a:t>
            </a:r>
            <a:r>
              <a:rPr sz="1700" b="1" i="0" dirty="0"/>
              <a:t> </a:t>
            </a:r>
            <a:r>
              <a:rPr sz="1700" b="1" i="0" dirty="0" err="1"/>
              <a:t>précieux</a:t>
            </a:r>
            <a:r>
              <a:rPr sz="1700" b="1" i="0" dirty="0"/>
              <a:t> </a:t>
            </a:r>
            <a:r>
              <a:rPr sz="1700" b="1" i="0" dirty="0" err="1"/>
              <a:t>que</a:t>
            </a:r>
            <a:r>
              <a:rPr sz="1700" b="1" i="0" dirty="0"/>
              <a:t> </a:t>
            </a:r>
            <a:r>
              <a:rPr sz="1700" b="1" i="0" dirty="0" err="1"/>
              <a:t>d'en</a:t>
            </a:r>
            <a:r>
              <a:rPr sz="1700" b="1" i="0" dirty="0"/>
              <a:t> </a:t>
            </a:r>
            <a:r>
              <a:rPr sz="1700" b="1" i="0" dirty="0" err="1"/>
              <a:t>construire</a:t>
            </a:r>
            <a:r>
              <a:rPr sz="1700" b="1" i="0" dirty="0"/>
              <a:t> un qui </a:t>
            </a:r>
            <a:r>
              <a:rPr sz="1700" b="1" i="0" dirty="0" err="1"/>
              <a:t>réussit</a:t>
            </a:r>
            <a:r>
              <a:rPr sz="1700" b="1" i="0" dirty="0"/>
              <a:t>.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21</a:t>
            </a:r>
            <a:endParaRPr sz="1000" b="0" i="0" dirty="0">
              <a:solidFill>
                <a:srgbClr val="8C8C8C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0" dirty="0">
                <a:solidFill>
                  <a:srgbClr val="00468C"/>
                </a:solidFill>
              </a:rPr>
              <a:t>XI. Conclusio</a:t>
            </a:r>
            <a:r>
              <a:rPr lang="fr-FR" sz="2400" b="1" dirty="0">
                <a:solidFill>
                  <a:srgbClr val="00468C"/>
                </a:solidFill>
              </a:rPr>
              <a:t>n — Perspectives 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22</a:t>
            </a:r>
            <a:endParaRPr sz="1000" b="0" i="0" dirty="0">
              <a:solidFill>
                <a:srgbClr val="8C8C8C"/>
              </a:solidFill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6A2FD114-53DB-2192-6896-666B2E5941B3}"/>
              </a:ext>
            </a:extLst>
          </p:cNvPr>
          <p:cNvSpPr txBox="1"/>
          <p:nvPr/>
        </p:nvSpPr>
        <p:spPr>
          <a:xfrm>
            <a:off x="320040" y="977445"/>
            <a:ext cx="498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000" b="1" dirty="0">
                <a:solidFill>
                  <a:srgbClr val="00468C"/>
                </a:solidFill>
              </a:rPr>
              <a:t>Perspectives</a:t>
            </a:r>
            <a:endParaRPr sz="2000" b="1" i="0" dirty="0">
              <a:solidFill>
                <a:srgbClr val="00468C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95029B29-4F45-EF55-D52D-61ECE455EAF6}"/>
              </a:ext>
            </a:extLst>
          </p:cNvPr>
          <p:cNvSpPr txBox="1"/>
          <p:nvPr/>
        </p:nvSpPr>
        <p:spPr>
          <a:xfrm>
            <a:off x="320040" y="1439378"/>
            <a:ext cx="78438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Changer le </a:t>
            </a:r>
            <a:r>
              <a:rPr lang="fr-FR" dirty="0" err="1"/>
              <a:t>dataset</a:t>
            </a:r>
            <a:r>
              <a:rPr lang="fr-FR" dirty="0"/>
              <a:t> (Framingham ou NHANES) — vraies relations biologiques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Deploiement API REST (</a:t>
            </a:r>
            <a:r>
              <a:rPr lang="fr-FR" dirty="0" err="1"/>
              <a:t>FastAPI</a:t>
            </a:r>
            <a:r>
              <a:rPr lang="fr-FR" dirty="0"/>
              <a:t>) : profil individuel → prédiction + valeurs SHAP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Master 2 : </a:t>
            </a:r>
            <a:r>
              <a:rPr lang="fr-FR" dirty="0">
                <a:solidFill>
                  <a:srgbClr val="000000"/>
                </a:solidFill>
              </a:rPr>
              <a:t>Causalité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Interprétabilité avancée</a:t>
            </a:r>
          </a:p>
        </p:txBody>
      </p:sp>
      <p:sp>
        <p:nvSpPr>
          <p:cNvPr id="58" name="TextBox 37">
            <a:extLst>
              <a:ext uri="{FF2B5EF4-FFF2-40B4-BE49-F238E27FC236}">
                <a16:creationId xmlns:a16="http://schemas.microsoft.com/office/drawing/2014/main" id="{EE0ED644-7B5C-BA1A-7943-A9FFC21A8332}"/>
              </a:ext>
            </a:extLst>
          </p:cNvPr>
          <p:cNvSpPr txBox="1"/>
          <p:nvPr/>
        </p:nvSpPr>
        <p:spPr>
          <a:xfrm>
            <a:off x="320040" y="2771737"/>
            <a:ext cx="4983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</a:rPr>
              <a:t>Note sur l’utilisation de IA - Claude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E3576FA9-01B8-60D3-CD88-6D14155935B5}"/>
              </a:ext>
            </a:extLst>
          </p:cNvPr>
          <p:cNvSpPr txBox="1"/>
          <p:nvPr/>
        </p:nvSpPr>
        <p:spPr>
          <a:xfrm>
            <a:off x="320040" y="3303877"/>
            <a:ext cx="4120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Recherche bibliographique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Structuration du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Relecture et reformulation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Débogage et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E5E25-C7F5-8039-BD06-C05C774C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9137DB-2CDA-EFAD-EDB8-0449EF03E5E4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9A700-0930-0B2E-D396-3FD1207185A0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0" dirty="0">
                <a:solidFill>
                  <a:srgbClr val="00468C"/>
                </a:solidFill>
              </a:rPr>
              <a:t>XI. Conclusio</a:t>
            </a:r>
            <a:r>
              <a:rPr lang="fr-FR" sz="2400" b="1" dirty="0">
                <a:solidFill>
                  <a:srgbClr val="00468C"/>
                </a:solidFill>
              </a:rPr>
              <a:t>n — Outils &amp; Enseignements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8F7271-AAD4-3C81-FC8E-35407DFC9C5F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8479EF-4361-7529-4887-0EC9ADFF5075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23</a:t>
            </a:r>
            <a:endParaRPr sz="1000" b="0" i="0" dirty="0">
              <a:solidFill>
                <a:srgbClr val="8C8C8C"/>
              </a:solidFill>
            </a:endParaRP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78744D46-2541-5B9E-22C4-F883AF247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30" y="1005228"/>
            <a:ext cx="6946900" cy="2146300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585B645E-3309-F8EF-056A-C1EE3A51AA8B}"/>
              </a:ext>
            </a:extLst>
          </p:cNvPr>
          <p:cNvSpPr txBox="1"/>
          <p:nvPr/>
        </p:nvSpPr>
        <p:spPr>
          <a:xfrm>
            <a:off x="4342262" y="3151528"/>
            <a:ext cx="3111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>
                <a:solidFill>
                  <a:srgbClr val="646464"/>
                </a:solidFill>
              </a:rPr>
              <a:t>Table 11.1 – Outils et environnement technique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0BB3DF89-9B41-D272-7548-23DC2EBB6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3554072"/>
            <a:ext cx="7315200" cy="22987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BE80BFB-A6AD-EC18-BF0C-028CFC1C0A7A}"/>
              </a:ext>
            </a:extLst>
          </p:cNvPr>
          <p:cNvSpPr txBox="1"/>
          <p:nvPr/>
        </p:nvSpPr>
        <p:spPr>
          <a:xfrm>
            <a:off x="3876208" y="5978317"/>
            <a:ext cx="4436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>
                <a:solidFill>
                  <a:srgbClr val="646464"/>
                </a:solidFill>
              </a:rPr>
              <a:t>Table 11.2 – Lien entre enseignements MIASHS et applications projet</a:t>
            </a:r>
          </a:p>
        </p:txBody>
      </p:sp>
    </p:spTree>
    <p:extLst>
      <p:ext uri="{BB962C8B-B14F-4D97-AF65-F5344CB8AC3E}">
        <p14:creationId xmlns:p14="http://schemas.microsoft.com/office/powerpoint/2010/main" val="833386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C4A3B6F5-7167-8E2A-6892-A3F25FFF2658}"/>
              </a:ext>
            </a:extLst>
          </p:cNvPr>
          <p:cNvSpPr txBox="1"/>
          <p:nvPr/>
        </p:nvSpPr>
        <p:spPr>
          <a:xfrm>
            <a:off x="347344" y="1083163"/>
            <a:ext cx="1149413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/>
              <a:t>World Health </a:t>
            </a:r>
            <a:r>
              <a:rPr lang="fr-FR" dirty="0" err="1"/>
              <a:t>Organization</a:t>
            </a:r>
            <a:r>
              <a:rPr lang="fr-FR" dirty="0"/>
              <a:t>. </a:t>
            </a:r>
            <a:r>
              <a:rPr lang="fr-FR" dirty="0" err="1"/>
              <a:t>Obesity</a:t>
            </a:r>
            <a:r>
              <a:rPr lang="fr-FR" dirty="0"/>
              <a:t> : </a:t>
            </a:r>
            <a:r>
              <a:rPr lang="fr-FR" dirty="0" err="1"/>
              <a:t>preventing</a:t>
            </a:r>
            <a:r>
              <a:rPr lang="fr-FR" dirty="0"/>
              <a:t> and </a:t>
            </a:r>
            <a:r>
              <a:rPr lang="fr-FR" dirty="0" err="1"/>
              <a:t>managing</a:t>
            </a:r>
            <a:r>
              <a:rPr lang="fr-FR" dirty="0"/>
              <a:t> the global </a:t>
            </a:r>
            <a:r>
              <a:rPr lang="fr-FR" dirty="0" err="1"/>
              <a:t>epidemic</a:t>
            </a:r>
            <a:r>
              <a:rPr lang="fr-FR" dirty="0"/>
              <a:t>. Technical Report 894, WHO, 2000.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National </a:t>
            </a:r>
            <a:r>
              <a:rPr lang="fr-FR" dirty="0" err="1"/>
              <a:t>Cholesterol</a:t>
            </a:r>
            <a:r>
              <a:rPr lang="fr-FR" dirty="0"/>
              <a:t> Education Program. Third report of the expert panel on </a:t>
            </a:r>
            <a:r>
              <a:rPr lang="fr-FR" dirty="0" err="1"/>
              <a:t>detection</a:t>
            </a:r>
            <a:r>
              <a:rPr lang="fr-FR" dirty="0"/>
              <a:t>, </a:t>
            </a:r>
            <a:r>
              <a:rPr lang="fr-FR" dirty="0" err="1"/>
              <a:t>evaluation</a:t>
            </a:r>
            <a:r>
              <a:rPr lang="fr-FR" dirty="0"/>
              <a:t>, and </a:t>
            </a:r>
            <a:r>
              <a:rPr lang="fr-FR" dirty="0" err="1"/>
              <a:t>treatment</a:t>
            </a:r>
            <a:r>
              <a:rPr lang="fr-FR" dirty="0"/>
              <a:t> of high </a:t>
            </a:r>
            <a:r>
              <a:rPr lang="fr-FR" dirty="0" err="1"/>
              <a:t>blood</a:t>
            </a:r>
            <a:r>
              <a:rPr lang="fr-FR" dirty="0"/>
              <a:t> </a:t>
            </a:r>
            <a:r>
              <a:rPr lang="fr-FR" dirty="0" err="1"/>
              <a:t>cholesterol</a:t>
            </a:r>
            <a:r>
              <a:rPr lang="fr-FR" dirty="0"/>
              <a:t> in </a:t>
            </a:r>
            <a:r>
              <a:rPr lang="fr-FR" dirty="0" err="1"/>
              <a:t>adults</a:t>
            </a:r>
            <a:r>
              <a:rPr lang="fr-FR" dirty="0"/>
              <a:t> (atp iii). Technical Report 02-5215, NIH, 2002.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Bryan Williams et al. 2018 esc/</a:t>
            </a:r>
            <a:r>
              <a:rPr lang="fr-FR" dirty="0" err="1"/>
              <a:t>esh</a:t>
            </a:r>
            <a:r>
              <a:rPr lang="fr-FR" dirty="0"/>
              <a:t> guidelines for the management of </a:t>
            </a:r>
            <a:r>
              <a:rPr lang="fr-FR" dirty="0" err="1"/>
              <a:t>arterial</a:t>
            </a:r>
            <a:r>
              <a:rPr lang="fr-FR" dirty="0"/>
              <a:t> hypertension. </a:t>
            </a:r>
            <a:r>
              <a:rPr lang="fr-FR" dirty="0" err="1"/>
              <a:t>European</a:t>
            </a:r>
            <a:r>
              <a:rPr lang="fr-FR" dirty="0"/>
              <a:t> Heart Journal, 39(33) :3021–3104, 2018.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Pete Chapman et al. Crisp-dm 1.0 : </a:t>
            </a:r>
            <a:r>
              <a:rPr lang="fr-FR" dirty="0" err="1"/>
              <a:t>Step</a:t>
            </a:r>
            <a:r>
              <a:rPr lang="fr-FR" dirty="0"/>
              <a:t>-by-</a:t>
            </a:r>
            <a:r>
              <a:rPr lang="fr-FR" dirty="0" err="1"/>
              <a:t>step</a:t>
            </a:r>
            <a:r>
              <a:rPr lang="fr-FR" dirty="0"/>
              <a:t> data </a:t>
            </a:r>
            <a:r>
              <a:rPr lang="fr-FR" dirty="0" err="1"/>
              <a:t>mining</a:t>
            </a:r>
            <a:r>
              <a:rPr lang="fr-FR" dirty="0"/>
              <a:t> guide. Technical report, SPSS Inc., 2000.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Nitesh V. Chawla, Kevin W. Bowyer, Lawrence O. Hall, and W. Philip </a:t>
            </a:r>
            <a:r>
              <a:rPr lang="fr-FR" dirty="0" err="1"/>
              <a:t>Kegelmeyer</a:t>
            </a:r>
            <a:r>
              <a:rPr lang="fr-FR" dirty="0"/>
              <a:t>. </a:t>
            </a:r>
            <a:r>
              <a:rPr lang="fr-FR" dirty="0" err="1"/>
              <a:t>Smote</a:t>
            </a:r>
            <a:r>
              <a:rPr lang="fr-FR" dirty="0"/>
              <a:t> : </a:t>
            </a:r>
            <a:r>
              <a:rPr lang="fr-FR" dirty="0" err="1"/>
              <a:t>Synthetic</a:t>
            </a:r>
            <a:r>
              <a:rPr lang="fr-FR" dirty="0"/>
              <a:t> </a:t>
            </a:r>
            <a:r>
              <a:rPr lang="fr-FR" dirty="0" err="1"/>
              <a:t>minority</a:t>
            </a:r>
            <a:r>
              <a:rPr lang="fr-FR" dirty="0"/>
              <a:t> over-sampling technique. Journal of </a:t>
            </a:r>
            <a:r>
              <a:rPr lang="fr-FR" dirty="0" err="1"/>
              <a:t>Artificial</a:t>
            </a:r>
            <a:r>
              <a:rPr lang="fr-FR" dirty="0"/>
              <a:t> Intelligence </a:t>
            </a:r>
            <a:r>
              <a:rPr lang="fr-FR" dirty="0" err="1"/>
              <a:t>Research</a:t>
            </a:r>
            <a:r>
              <a:rPr lang="fr-FR" dirty="0"/>
              <a:t>, 16 :321–357, 2002.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Ziad Obermeyer and Ezekiel J. Emanuel. </a:t>
            </a:r>
            <a:r>
              <a:rPr lang="fr-FR" dirty="0" err="1"/>
              <a:t>Predicting</a:t>
            </a:r>
            <a:r>
              <a:rPr lang="fr-FR" dirty="0"/>
              <a:t> the future — big data, machine </a:t>
            </a:r>
            <a:r>
              <a:rPr lang="fr-FR" dirty="0" err="1"/>
              <a:t>learning</a:t>
            </a:r>
            <a:r>
              <a:rPr lang="fr-FR" dirty="0"/>
              <a:t>, and </a:t>
            </a:r>
            <a:r>
              <a:rPr lang="fr-FR" dirty="0" err="1"/>
              <a:t>clinical</a:t>
            </a:r>
            <a:r>
              <a:rPr lang="fr-FR" dirty="0"/>
              <a:t> </a:t>
            </a:r>
            <a:r>
              <a:rPr lang="fr-FR" dirty="0" err="1"/>
              <a:t>medicine</a:t>
            </a:r>
            <a:r>
              <a:rPr lang="fr-FR" dirty="0"/>
              <a:t>. New England Journal of Medicine, 375(13) :1216–1219, 2016.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DC06A-4329-479B-4488-F5201D080A26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3D643BD3-01A0-7FF6-C9A5-BDFF5100BE78}"/>
              </a:ext>
            </a:extLst>
          </p:cNvPr>
          <p:cNvSpPr txBox="1"/>
          <p:nvPr/>
        </p:nvSpPr>
        <p:spPr>
          <a:xfrm>
            <a:off x="320040" y="128016"/>
            <a:ext cx="11548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dirty="0">
                <a:solidFill>
                  <a:srgbClr val="00468C"/>
                </a:solidFill>
              </a:rPr>
              <a:t>BIBLIOGRAPHIE</a:t>
            </a:r>
            <a:endParaRPr sz="2400" b="1" i="0" dirty="0">
              <a:solidFill>
                <a:srgbClr val="00468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9B280-6369-C5EF-5531-ABC209C17F58}"/>
              </a:ext>
            </a:extLst>
          </p:cNvPr>
          <p:cNvSpPr/>
          <p:nvPr/>
        </p:nvSpPr>
        <p:spPr>
          <a:xfrm>
            <a:off x="0" y="749808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25B88FAA-F70D-A351-B187-88A01C0E153B}"/>
              </a:ext>
            </a:extLst>
          </p:cNvPr>
          <p:cNvSpPr txBox="1"/>
          <p:nvPr/>
        </p:nvSpPr>
        <p:spPr>
          <a:xfrm>
            <a:off x="11548872" y="65379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8C8C8C"/>
                </a:solidFill>
              </a:rPr>
              <a:t>24</a:t>
            </a:r>
            <a:endParaRPr sz="1000" b="0" i="0" dirty="0">
              <a:solidFill>
                <a:srgbClr val="8C8C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671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468C"/>
                </a:solidFill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66CC"/>
                </a:solidFill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7259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0" i="0" dirty="0">
                <a:solidFill>
                  <a:srgbClr val="787878"/>
                </a:solidFill>
              </a:rPr>
              <a:t>ARDACHAM</a:t>
            </a:r>
            <a:r>
              <a:rPr sz="1300" b="0" i="0" dirty="0">
                <a:solidFill>
                  <a:srgbClr val="787878"/>
                </a:solidFill>
              </a:rPr>
              <a:t> Mahamat Teguene  —  M1 MIASHS  —  Université de Montpellier Paul Valéry  — 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2877</Words>
  <Application>Microsoft Macintosh PowerPoint</Application>
  <PresentationFormat>Personnalisé</PresentationFormat>
  <Paragraphs>417</Paragraphs>
  <Slides>29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Aptos</vt:lpstr>
      <vt:lpstr>Arial</vt:lpstr>
      <vt:lpstr>Baguet Script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ARDACHAM Mahamat teguene</cp:lastModifiedBy>
  <cp:revision>9</cp:revision>
  <dcterms:created xsi:type="dcterms:W3CDTF">2013-01-27T09:14:16Z</dcterms:created>
  <dcterms:modified xsi:type="dcterms:W3CDTF">2026-06-07T19:02:14Z</dcterms:modified>
  <cp:category/>
</cp:coreProperties>
</file>