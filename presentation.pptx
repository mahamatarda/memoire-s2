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468C"/>
                </a:solidFill>
              </a:rPr>
              <a:t>Modélisation des comportements de santé
par apprentissage automatique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56432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66CC"/>
                </a:solidFill>
              </a:rPr>
              <a:t>Régression, classification et clustering sur données synthétiques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006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Ardacham Mahamat Teguene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93792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05050"/>
                </a:solidFill>
              </a:rPr>
              <a:t>Master 1 MIASHS  —  Université de Montpellier Paul Valéry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7878"/>
                </a:solidFill>
              </a:rPr>
              <a:t>Tuteurs : Sophie Lèbre &amp; Jérôme Pasquet  — 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24128"/>
            <a:ext cx="384048" cy="475488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8813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0642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</a:rPr>
              <a:t>Contexte et problématique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00784"/>
            <a:ext cx="384048" cy="475488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7647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</a:rPr>
              <a:t>Jeu de données &amp; pipeline CRISP-DM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77440"/>
            <a:ext cx="384048" cy="475488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44144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5973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</a:rPr>
              <a:t>Analyse exploratoire (EDA)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54096"/>
            <a:ext cx="384048" cy="475488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11810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363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</a:rPr>
              <a:t>Modélisation supervisée — Régression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30752"/>
            <a:ext cx="384048" cy="475488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79476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130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</a:rPr>
              <a:t>Modélisation supervisée — Classification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407408"/>
            <a:ext cx="384048" cy="475488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47141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8970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</a:rPr>
              <a:t>Clustering et interprétabilité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84064"/>
            <a:ext cx="384048" cy="475488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14807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166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</a:rPr>
              <a:t>Bilan &amp; Perspectives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Contexte et 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50976"/>
            <a:ext cx="11548872" cy="8686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50976"/>
            <a:ext cx="50800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96696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25296"/>
            <a:ext cx="111831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Quels facteurs du mode de vie influencent le plus l'état de santé — et peut-on les identifier, les modéliser et les expliquer de manière rigoureuse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56816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468C"/>
                </a:solidFill>
              </a:rPr>
              <a:t>Contexte data science &amp; santé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Les maladies chroniques résultent de comportements quotidiens mesurables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ML peut capturer des relations complexes inaccessibles à la stat. classique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Double enjeu : prédire ET expliquer (interprétabilité)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956816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468C"/>
                </a:solidFill>
              </a:rPr>
              <a:t>Seuils médicaux de référence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Obésité : IMC &gt; 30  (seuil OMS)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Hypercholestérolémie : cholestérol &gt; 200 mg/dL  (NCEP)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Hypertension : pression systolique ≥ 140 mmHg  (ESC)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03504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</a:rPr>
              <a:t>Variable cible régression : cholesterol (mg/dL)  |  Variable cible classification : disease_risk (0/1)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Jeu de données — Health &amp; Lifestyle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50976"/>
          <a:ext cx="521208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520440"/>
              </a:tblGrid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Variables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Continues (8)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age, bmi, daily_steps, sleep_hours, cholesterol,
systolic_bp, diastolic_bp, resting_hr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Binaires (4)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smoker, alcohol, family_history, disease_risk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Catégorielle 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gender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Cible régression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cholesterol (mg/dL)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Cible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disease_risk (0 = sain / 1 = à risque)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3877056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468C"/>
                </a:solidFill>
              </a:rPr>
              <a:t>Points clés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100 000 individus, 15 variables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Dataset synthétique (Kaggle) — sans contrainte RGPD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Aucune valeur manquante, aucun outlier (IQR)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Distributions quasi-uniformes (skewness &lt; |0.02|)</a:t>
            </a:r>
          </a:p>
        </p:txBody>
      </p:sp>
      <p:pic>
        <p:nvPicPr>
          <p:cNvPr id="7" name="Picture 6" descr="disease_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905256"/>
            <a:ext cx="5989320" cy="3593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6199632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Déséquilibre 75% / 25%  — un modèle naïf atteint 75% d'accuracy sans rien apprendre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Pipeline CRISP-DM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96696"/>
            <a:ext cx="1719072" cy="36576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332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62456"/>
            <a:ext cx="1719072" cy="9601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417320"/>
            <a:ext cx="157276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Corrélations &lt; 0.01
Déséquilibre 75/25
Pas d'outliers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634236"/>
            <a:ext cx="128016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21992" y="996696"/>
            <a:ext cx="1719072" cy="36576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1992" y="10332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
Eng.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21992" y="1362456"/>
            <a:ext cx="1719072" cy="9601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95144" y="1417320"/>
            <a:ext cx="157276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Encodage gender
3 variables métier
Leakage détecté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40" y="1634236"/>
            <a:ext cx="128016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23944" y="996696"/>
            <a:ext cx="1719072" cy="36576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23944" y="10332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Régression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23944" y="1362456"/>
            <a:ext cx="1719072" cy="9601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7096" y="1417320"/>
            <a:ext cx="157276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6 modèles
RandSearchCV
K-Fold k=5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79592" y="1634236"/>
            <a:ext cx="128016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996696"/>
            <a:ext cx="1719072" cy="36576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25896" y="10332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Classif.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25896" y="1362456"/>
            <a:ext cx="1719072" cy="9601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8" y="1417320"/>
            <a:ext cx="157276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3 modèles
SMOTE vs CW
Strat. K-Fold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81544" y="1634236"/>
            <a:ext cx="128016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27848" y="996696"/>
            <a:ext cx="1719072" cy="36576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7848" y="10332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Clustering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7848" y="1362456"/>
            <a:ext cx="1719072" cy="9601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1417320"/>
            <a:ext cx="157276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K-Means k=3
CAH Ward
ACP 24.3%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83496" y="1634236"/>
            <a:ext cx="128016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29800" y="996696"/>
            <a:ext cx="1719072" cy="36576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10332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Interprét.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1362456"/>
            <a:ext cx="1719072" cy="9601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02952" y="1417320"/>
            <a:ext cx="157276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Coeff. LR/Ridge
FI Gini RF/XGB
SHAP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2505456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</a:rPr>
              <a:t>Approche itérative : chaque étape informe la suivante (EDA → anticipation des problèmes de signal → choix des modèles → interprétabilité)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20040" y="2871216"/>
          <a:ext cx="11704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530352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Tâche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Meilleur modèle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Métrique principale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Conclusion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Régression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XGBoost tuné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R² = 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Aucun signal — tous équivalents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Classification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AUC = 0.499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Équivalent tirage aléatoire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Clustering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K-Means k=3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Silhouette = 0.103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Profils biologiques interprétables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Analyse exploratoire (EDA)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50976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Distributions des variables continues</a:t>
            </a:r>
          </a:p>
        </p:txBody>
      </p:sp>
      <p:pic>
        <p:nvPicPr>
          <p:cNvPr id="6" name="Picture 5" descr="distributions_contin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43584"/>
            <a:ext cx="7223760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95097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Corrélations avec la cible</a:t>
            </a:r>
          </a:p>
        </p:txBody>
      </p:sp>
      <p:pic>
        <p:nvPicPr>
          <p:cNvPr id="8" name="Picture 7" descr="correlations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243584"/>
            <a:ext cx="4114800" cy="3086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5577840"/>
            <a:ext cx="11548872" cy="9601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5577840"/>
            <a:ext cx="50800" cy="96012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62356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41E1E"/>
                </a:solidFill>
              </a:rPr>
              <a:t>Résultat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Toutes les corrélations &lt; |0.01|. La plus élevée avec disease_risk : resting_hr avec r = 0.005 (non significatif sur 100 000 individus). Conclusion : disease_risk généré indépendamment → justifie l'exploration de méthodes non-linéaires.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Feature Engineering — 16 variables explicatives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50976"/>
            <a:ext cx="5394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468C"/>
                </a:solidFill>
              </a:rPr>
              <a:t>Encodage des variables catégorielles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gender → gender_enc (0/1)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Suppression de id (pas de pouvoir prédictif)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322576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468C"/>
                </a:solidFill>
              </a:rPr>
              <a:t>3 variables métier créées à partir des connaissances médicales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hypertension : systolic_bp ≥ 140 ou diastolic_bp ≥ 90  (seuil ESC)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bmi_cat : 0=sous-poids / 1=normal / 2=surpoids / 3=obèse  (seuil OMS)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lifestyle_score : score composite  (steps + sleep + water  – smoker – alcohol – bmi – calories)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654296"/>
            <a:ext cx="5394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468C"/>
                </a:solidFill>
              </a:rPr>
              <a:t>Mise à l'échelle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Standardisation z-score pour les modèles linéaires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Normalisation min-max pour K-Means (distance euclidienne)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950976"/>
            <a:ext cx="5897880" cy="347472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987552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⚠  Data Leakage détecté et corrigé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98448"/>
            <a:ext cx="5897880" cy="20299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3328" y="1344168"/>
            <a:ext cx="567842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hypercholesterol = 1 si cholesterol &gt; 200 mg/dL</a:t>
            </a:r>
          </a:p>
          <a:p>
            <a:r>
              <a:rPr sz="1300">
                <a:solidFill>
                  <a:srgbClr val="000000"/>
                </a:solidFill>
              </a:rPr>
              <a:t>–  Directement dérivée de la variable cible → 'donner la réponse' au modèle</a:t>
            </a:r>
          </a:p>
          <a:p>
            <a:r>
              <a:rPr sz="1300">
                <a:solidFill>
                  <a:srgbClr val="000000"/>
                </a:solidFill>
              </a:rPr>
              <a:t>–  R² artificiel = 0.675 avec leakage → R² ≈ 0 après suppression</a:t>
            </a:r>
          </a:p>
          <a:p>
            <a:r>
              <a:rPr sz="1300">
                <a:solidFill>
                  <a:srgbClr val="000000"/>
                </a:solidFill>
              </a:rPr>
              <a:t>–  Exclue de la régression, conservée uniquement pour le clustering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465576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Dataset final : 15 variables originales → 16 features explicatives  (14 − 1 + 3 = 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Régression — Protocole &amp; justification des modèles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50976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468C"/>
                </a:solidFill>
              </a:rPr>
              <a:t>Protocole expérimental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Split 80/20  (random_state=42) — 80 000 train / 20 000 test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K-Fold k=5 : 16 000 exemples/fold, bon compromis coût/fiabilité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RandomizedSearchCV n_iter=20 : 20 tirages aléatoires vs GridSearch exhaustif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Métriques : R², RMSE (mg/dL), MAE (mg/dL)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2551176"/>
          <a:ext cx="5394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42900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Modèle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Justification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Régression linéaire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Référence obligatoire — plancher de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Ridge  (L2)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Réduit les coeff. sans les annuler — stabilise si variables peu informatives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Lasso  (L1)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Force des coeff. à 0 → sélection automatique de 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ElasticNet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Combine L1 + L2 — robuste quand on ne sait pas lequel convient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Ensembliste non-linéaire parallèle — capte les interactions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Ensembliste séquentiel — corrige les erreurs itérativement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943600" y="950976"/>
            <a:ext cx="5897880" cy="34747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987552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Logique : spectre de complexité croissante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98448"/>
            <a:ext cx="5897880" cy="161848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344168"/>
            <a:ext cx="567842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Baseline linéaire → plancher de performance</a:t>
            </a:r>
          </a:p>
          <a:p>
            <a:r>
              <a:rPr sz="1300">
                <a:solidFill>
                  <a:srgbClr val="000000"/>
                </a:solidFill>
              </a:rPr>
              <a:t>–  Régularisées → teste si contraindre les coeff. aide</a:t>
            </a:r>
          </a:p>
          <a:p>
            <a:r>
              <a:rPr sz="1300">
                <a:solidFill>
                  <a:srgbClr val="000000"/>
                </a:solidFill>
              </a:rPr>
              <a:t>–  Ensemblistes → capture les non-linéarités potentielles</a:t>
            </a:r>
          </a:p>
          <a:p>
            <a:r>
              <a:rPr sz="1300">
                <a:solidFill>
                  <a:srgbClr val="000000"/>
                </a:solidFill>
              </a:rPr>
              <a:t>–  Si complexe ≤ baseline → complexité non justifiée (rasoir d'Occam)</a:t>
            </a:r>
          </a:p>
        </p:txBody>
      </p:sp>
      <p:pic>
        <p:nvPicPr>
          <p:cNvPr id="11" name="Picture 10" descr="distributions_contin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054096"/>
            <a:ext cx="5897880" cy="29489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0" y="6382512"/>
            <a:ext cx="5897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Distributions quasi-uniformes — aucune transformation nécessaire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Régression — Résultats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50976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1234440"/>
                <a:gridCol w="123444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Modèle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CV-R²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Linéaire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43.33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37.59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≈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Ridge (λ=7197, tuné)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0.0001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43.33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37.59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≈ 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Lasso (λ=9.54, tuné)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−0.000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43.33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37.60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≈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ElasticNet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−0.000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43.33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37.60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≈ 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Random Forest (tuné)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−0.005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43.44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37.67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≈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XGBoost (tuné)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0.0001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43.33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37.59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≈ 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0040" y="3648456"/>
            <a:ext cx="6949440" cy="34747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685032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Analyse critique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995928"/>
            <a:ext cx="6949440" cy="22585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4041648"/>
            <a:ext cx="6729984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Lasso (tuné) : 16/16 coefficients = 0 → prédit uniquement la moyenne (224.3 mg/dL)</a:t>
            </a:r>
          </a:p>
          <a:p>
            <a:r>
              <a:rPr sz="1300">
                <a:solidFill>
                  <a:srgbClr val="000000"/>
                </a:solidFill>
              </a:rPr>
              <a:t>–  Random Forest non-tuné : R² &lt; 0 → pire que la moyenne (surajustement du bruit)</a:t>
            </a:r>
          </a:p>
          <a:p>
            <a:r>
              <a:rPr sz="1300">
                <a:solidFill>
                  <a:srgbClr val="000000"/>
                </a:solidFill>
              </a:rPr>
              <a:t>–  Data leakage corrigé : R² 0.675 → ≈ 0 après suppression de hypercholesterol</a:t>
            </a:r>
          </a:p>
          <a:p>
            <a:r>
              <a:rPr sz="1300">
                <a:solidFill>
                  <a:srgbClr val="000000"/>
                </a:solidFill>
              </a:rPr>
              <a:t>–  Différences entre −0.005 et 0.0001 statistiquement négligeables → aucun modèle retenu</a:t>
            </a:r>
          </a:p>
          <a:p>
            <a:r>
              <a:rPr sz="1300">
                <a:solidFill>
                  <a:srgbClr val="000000"/>
                </a:solidFill>
              </a:rPr>
              <a:t>–  Cause : variables générées indépendamment — signal absent par construction</a:t>
            </a:r>
          </a:p>
        </p:txBody>
      </p:sp>
      <p:pic>
        <p:nvPicPr>
          <p:cNvPr id="10" name="Picture 9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50976"/>
            <a:ext cx="4480560" cy="3733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06640" y="638251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Matrice de corrélation — toutes valeurs &lt; |0.01|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Classification — Résultats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50976"/>
          <a:ext cx="565099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49808"/>
                <a:gridCol w="749808"/>
                <a:gridCol w="749808"/>
                <a:gridCol w="658368"/>
                <a:gridCol w="73152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Modèle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Précision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Rappel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Naïf (tout à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0.498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0.249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0.509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0.335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0.499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0.525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0.246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0.441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0.316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0.499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0040" y="3054096"/>
            <a:ext cx="5989320" cy="34747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090672"/>
            <a:ext cx="5806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Analyse critique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401568"/>
            <a:ext cx="5989320" cy="22585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3447288"/>
            <a:ext cx="5769864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AUC ≈ 0.5 pour tous = équivalent à un tirage aléatoire</a:t>
            </a:r>
          </a:p>
          <a:p>
            <a:r>
              <a:rPr sz="1300">
                <a:solidFill>
                  <a:srgbClr val="000000"/>
                </a:solidFill>
              </a:rPr>
              <a:t>–  class_weight='balanced' : rappel monte mais accuracy &lt; 50% → sur-correction</a:t>
            </a:r>
          </a:p>
          <a:p>
            <a:r>
              <a:rPr sz="1300">
                <a:solidFill>
                  <a:srgbClr val="000000"/>
                </a:solidFill>
              </a:rPr>
              <a:t>–  SMOTE : même résultat — ne peut pas créer un signal absent</a:t>
            </a:r>
          </a:p>
          <a:p>
            <a:r>
              <a:rPr sz="1300">
                <a:solidFill>
                  <a:srgbClr val="000000"/>
                </a:solidFill>
              </a:rPr>
              <a:t>–  Accuracy seule trompeuse sur données déséquilibrées → F1 + AUC obligatoires</a:t>
            </a:r>
          </a:p>
          <a:p>
            <a:r>
              <a:rPr sz="1300">
                <a:solidFill>
                  <a:srgbClr val="000000"/>
                </a:solidFill>
              </a:rPr>
              <a:t>–  Cohérent avec régression : disease_risk généré indépendamment de toutes les variables</a:t>
            </a:r>
          </a:p>
        </p:txBody>
      </p:sp>
      <p:pic>
        <p:nvPicPr>
          <p:cNvPr id="10" name="Picture 9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950976"/>
            <a:ext cx="2926080" cy="25080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05993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Courbes ROC — AUC ≈ 0.5</a:t>
            </a:r>
          </a:p>
        </p:txBody>
      </p:sp>
      <p:pic>
        <p:nvPicPr>
          <p:cNvPr id="12" name="Picture 11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950976"/>
            <a:ext cx="2468880" cy="658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18320" y="405993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Matrices de confusion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Clustering — K-Means &amp; CAH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509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K-Means (k=3, 100 000 individus)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52728"/>
          <a:ext cx="50749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1984248"/>
                <a:gridCol w="1143000"/>
                <a:gridCol w="123444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Cluster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Profil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IMC moy.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Systolique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Obèse hypertendu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142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Surpoids normotendu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29.1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115 mmHg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Normal hypertendu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24.0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142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2734055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05050"/>
                </a:solidFill>
              </a:rPr>
              <a:t>Partition par IMC + pression systolique (variables à plus grande variance)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1455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CAH Ward (n=5 000 — complexité O(n²))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3447288"/>
          <a:ext cx="50749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1984248"/>
                <a:gridCol w="1143000"/>
                <a:gridCol w="123444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Cluster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Profil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% Fumeurs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Systolique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Non-fumeurs, HTA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142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Fumeurs modérés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18%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115 mmHg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Fumeurs intenses, HTA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142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49286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05050"/>
                </a:solidFill>
              </a:rPr>
              <a:t>CAH isole les fumeurs intenses — K-Means les aurait dilués (méthodes complémentaires)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340096"/>
          <a:ext cx="51206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82880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Méthode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Silhouette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Davies-Bouldin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K-Means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2.655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CAH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0.105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2.721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kmeans_selection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905256"/>
            <a:ext cx="329184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77840" y="37398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Sélection k — k=3 maximise la silhouette</a:t>
            </a:r>
          </a:p>
        </p:txBody>
      </p:sp>
      <p:pic>
        <p:nvPicPr>
          <p:cNvPr id="14" name="Picture 13" descr="kmeans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905256"/>
            <a:ext cx="2880360" cy="21602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06840" y="3739896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Clusters K-Means — ACP 2D (24.3% variance)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Interprétabilité — 5 méthodes comparées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50976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Méthodes : coefficients LR &amp; Ridge  |  Feature Importance Gini (RF &amp; XGBoost)  |  SHAP (XGBoost)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16736"/>
          <a:ext cx="50749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02920"/>
                <a:gridCol w="502920"/>
                <a:gridCol w="502920"/>
                <a:gridCol w="640080"/>
                <a:gridCol w="640080"/>
                <a:gridCol w="640080"/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XGB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SHAP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Ridge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systolic_bp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daily_steps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3/5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family_history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3/5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bmi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2/5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20040" y="3145536"/>
            <a:ext cx="5120640" cy="347472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18211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Analyse critique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493008"/>
            <a:ext cx="5120640" cy="20299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538728"/>
            <a:ext cx="490118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–  Les 5 méthodes ne convergent pas → mesurent du bruit aléatoire</a:t>
            </a:r>
          </a:p>
          <a:p>
            <a:r>
              <a:rPr sz="1300">
                <a:solidFill>
                  <a:srgbClr val="000000"/>
                </a:solidFill>
              </a:rPr>
              <a:t>–  systolic_bp partout : grande variance, pas signal causal</a:t>
            </a:r>
          </a:p>
          <a:p>
            <a:r>
              <a:rPr sz="1300">
                <a:solidFill>
                  <a:srgbClr val="000000"/>
                </a:solidFill>
              </a:rPr>
              <a:t>–  Divergence = résultat analytique en soi (Rudin 2019)</a:t>
            </a:r>
          </a:p>
          <a:p>
            <a:r>
              <a:rPr sz="1300">
                <a:solidFill>
                  <a:srgbClr val="000000"/>
                </a:solidFill>
              </a:rPr>
              <a:t>–  Sur données réelles : cholestérol, tabagisme, IMC domineraient</a:t>
            </a:r>
          </a:p>
        </p:txBody>
      </p:sp>
      <p:pic>
        <p:nvPicPr>
          <p:cNvPr id="11" name="Picture 10" descr="rf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905256"/>
            <a:ext cx="3200400" cy="2400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77840" y="351129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Feature importance Gini — Random Forest</a:t>
            </a:r>
          </a:p>
        </p:txBody>
      </p:sp>
      <p:pic>
        <p:nvPicPr>
          <p:cNvPr id="13" name="Picture 12" descr="shap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905256"/>
            <a:ext cx="2926080" cy="29564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0" y="351129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SHAP summary plot — XGBoost</a:t>
            </a:r>
          </a:p>
        </p:txBody>
      </p:sp>
      <p:pic>
        <p:nvPicPr>
          <p:cNvPr id="15" name="Picture 14" descr="lr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785616"/>
            <a:ext cx="6309360" cy="47320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77840" y="584301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6464"/>
                </a:solidFill>
              </a:rPr>
              <a:t>Coefficients Logistic Regression (variables standardisées)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Bilan — Résultat 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50976"/>
            <a:ext cx="11548872" cy="8229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50976"/>
            <a:ext cx="50800" cy="82296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1E1E"/>
                </a:solidFill>
              </a:rPr>
              <a:t>Limite fondamentale du dataset synthétique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43584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</a:rPr>
              <a:t>Les variables ont été générées indépendamment — sans relation causale encodée. Aucune technique ne peut extraire un signal qui n'existe pas.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11096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41E1E"/>
                </a:solidFill>
              </a:rPr>
              <a:t>Preuves convergentes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Corrélations &lt; 0.01 dès l'EDA le prédisait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Lasso : 16/16 coefficients = 0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R² ≈ 0 et AUC ≈ 0.5 pour tous les modèles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Data leakage détecté et corrigé (R² 0.675 → 0)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Interprétabilité divergente (5 méthodes)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911096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468C"/>
                </a:solidFill>
              </a:rPr>
              <a:t>Ce n'est pas un échec — valeur méthodologique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Pipeline complet et rigoureux (CRISP-DM)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Détection du data leakage — piège rare en cours théoriques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Validation croisée stratifiée systématique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Deux stratégies d'imbalance comparées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–  Directement transposable à des données réelles (Framingham, NHANES)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425696"/>
            <a:ext cx="11548872" cy="91440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08575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« Savoir diagnostiquer pourquoi un modèle échoue est aussi précieux que d'en construire un qui réussit.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468C"/>
                </a:solidFill>
              </a:rPr>
              <a:t>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69264"/>
            <a:ext cx="557784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9264"/>
            <a:ext cx="50800" cy="13716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69264"/>
            <a:ext cx="41148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69264"/>
            <a:ext cx="41148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" y="133502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6CC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0607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Changer de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444752"/>
            <a:ext cx="4983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Cohortes Framingham ou NHANES — vraies relations biologiques, même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969264"/>
            <a:ext cx="557784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969264"/>
            <a:ext cx="50800" cy="13716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969264"/>
            <a:ext cx="41148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969264"/>
            <a:ext cx="41148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33502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6CC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10607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Améliorer la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1444752"/>
            <a:ext cx="4983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Stacking, réseaux de neurones (Deep Learning M2) — SMOTE déjà intégré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23744"/>
            <a:ext cx="557784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523744"/>
            <a:ext cx="50800" cy="13716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523744"/>
            <a:ext cx="41148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523744"/>
            <a:ext cx="41148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288950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6CC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261518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Déploiement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2999232"/>
            <a:ext cx="4983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API REST (FastAPI) : profil individuel → prédiction + valeurs SHAP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523744"/>
            <a:ext cx="557784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523744"/>
            <a:ext cx="50800" cy="13716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2523744"/>
            <a:ext cx="41148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523744"/>
            <a:ext cx="41148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0216" y="288950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6CC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9128" y="261518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Interprétabilité avancée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9128" y="2999232"/>
            <a:ext cx="4983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Partial Dependence Plots (PDP), ICE — au-delà de SHAP agrégé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078224"/>
            <a:ext cx="557784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078224"/>
            <a:ext cx="50800" cy="13716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4078224"/>
            <a:ext cx="41148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78224"/>
            <a:ext cx="41148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" y="444398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6CC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" y="416966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Data drift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" y="4553712"/>
            <a:ext cx="4983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Suivi AUC sur nouvelles cohortes, réentraînement périodique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078224"/>
            <a:ext cx="557784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4078224"/>
            <a:ext cx="50800" cy="13716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078224"/>
            <a:ext cx="41148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078224"/>
            <a:ext cx="411480" cy="13716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0216" y="444398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6CC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39128" y="416966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68C"/>
                </a:solidFill>
              </a:rPr>
              <a:t>Master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39128" y="4553712"/>
            <a:ext cx="4983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Causalité, fairness algorithmique, apprentissage fédéré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468C"/>
                </a:solidFill>
              </a:rP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66CC"/>
                </a:solidFill>
              </a:rPr>
              <a:t>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7878"/>
                </a:solidFill>
              </a:rPr>
              <a:t>Ardacham Mahamat Teguene  —  M1 MIASHS  —  Université de Montpellier Paul Valéry  — 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