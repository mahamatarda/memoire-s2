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228600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87168"/>
            <a:ext cx="110916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Modélisation des comportements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4612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C8DCFF"/>
                </a:solidFill>
              </a:rPr>
              <a:t>par apprentissage automatique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505050"/>
                </a:solidFill>
              </a:rPr>
              <a:t>Régression, classification et clustering sur données synthétiques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4800600"/>
            <a:ext cx="5788152" cy="2540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468C"/>
                </a:solidFill>
              </a:rPr>
              <a:t>Ardacham Mahamat Teguene  —  Master 1 MIASHS  —  Université de Montpellier Paul Valéry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46464"/>
                </a:solidFill>
              </a:rPr>
              <a:t>Tuteurs : Sophie Lèbre &amp; Jérôme Pasquet  —  Juin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16403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Plan de la présentation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411480" cy="475488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97864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216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Contexte et problématique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411480" cy="475488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83664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Jeu de données &amp; pipeline CRISP-DM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14600"/>
            <a:ext cx="411480" cy="475488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569464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877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Analyse exploratoire (EDA)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00400"/>
            <a:ext cx="411480" cy="475488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255264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35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Modélisation supervisée — Régression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86200"/>
            <a:ext cx="411480" cy="475488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941064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593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Modélisation supervisée — Classification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572000"/>
            <a:ext cx="411480" cy="475488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26864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45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Clustering et interprétabilité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257800"/>
            <a:ext cx="411480" cy="475488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5312664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Bilan &amp; Perspectives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16403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Contexte et problématique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11457432" cy="960120"/>
          </a:xfrm>
          <a:prstGeom prst="rect">
            <a:avLst/>
          </a:prstGeom>
          <a:solidFill>
            <a:srgbClr val="EBF2FC"/>
          </a:solidFill>
          <a:ln>
            <a:solidFill>
              <a:srgbClr val="EBF2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73152" cy="9601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6CC"/>
                </a:solidFill>
              </a:rPr>
              <a:t>PROBLÉMATIQUE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53312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468C"/>
                </a:solidFill>
              </a:rPr>
              <a:t>Quels facteurs du mode de vie influencent le plus l'état de santé d'un individu — et peut-on les identifier, les modéliser et les expliquer de manière rigoureuse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945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68C"/>
                </a:solidFill>
              </a:rPr>
              <a:t>Contexte data science &amp; santé</a:t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▸  Les maladies chroniques résultent de comportements quotidiens mesurables</a:t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▸  ML peut capturer des relations complexes inaccessibles à la statistique classique</a:t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▸  Double enjeu : prédire ET expliquer (interprétabilité)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194560"/>
            <a:ext cx="5760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68C"/>
                </a:solidFill>
              </a:rPr>
              <a:t>Seuils médicaux de référence</a:t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▸  Obésité : IMC &gt; 30  (seuil OMS)</a:t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▸  Hypercholestérolémie : cholestérol &gt; 200 mg/dL  (NCEP)</a:t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▸  Hypertension : pression systolique ≥ 140 mmHg  (ESC)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617720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05050"/>
                </a:solidFill>
              </a:rPr>
              <a:t>→  Variable cible : disease_risk (0/1)  |  Indicateur continu : cholesterol (mg/dL)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16403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Jeu de données — Health &amp; Lifestyle Dataset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51560"/>
          <a:ext cx="5029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383280"/>
              </a:tblGrid>
              <a:tr h="48768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Variables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Continues (8)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age, bmi, daily_steps, sleep_hours, cholesterol,
systolic_bp, diastolic_bp, resting_hr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Binaires (4)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smoker, alcohol, family_history, disease_risk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Catégorielle 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gender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Cible régression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cholesterol (mg/dL)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Cible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disease_risk (0 = sain / 1 = à risque)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114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68C"/>
                </a:solidFill>
              </a:rPr>
              <a:t>Points clés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100 000 individus, 15 variables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Dataset synthétique (Kaggle) — pas de contrainte RGPD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Aucune valeur manquante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Distributions quasi-uniformes (skewness &lt; |0.02|)</a:t>
            </a:r>
          </a:p>
        </p:txBody>
      </p:sp>
      <p:pic>
        <p:nvPicPr>
          <p:cNvPr id="7" name="Picture 6" descr="disease_risk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005840"/>
            <a:ext cx="6035040" cy="36210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461772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05050"/>
                </a:solidFill>
              </a:rPr>
              <a:t>Déséquilibre 75% / 25% → modèle naïf = 75% accuracy sans rien apprendre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16403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Pipeline CRISP-DM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691640" cy="384048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4358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EDA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72768"/>
            <a:ext cx="1691640" cy="987552"/>
          </a:xfrm>
          <a:prstGeom prst="rect">
            <a:avLst/>
          </a:prstGeom>
          <a:solidFill>
            <a:srgbClr val="EBF2FC"/>
          </a:solidFill>
          <a:ln>
            <a:solidFill>
              <a:srgbClr val="EBF2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54533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Corrélations &lt; 0.01
Déséquilibre 75/25
Pas d'outliers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48256" y="1836420"/>
            <a:ext cx="164592" cy="7620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12848" y="1188720"/>
            <a:ext cx="1691640" cy="384048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12848" y="124358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Feature
Engineering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12848" y="1572768"/>
            <a:ext cx="1691640" cy="987552"/>
          </a:xfrm>
          <a:prstGeom prst="rect">
            <a:avLst/>
          </a:prstGeom>
          <a:solidFill>
            <a:srgbClr val="EBF2FC"/>
          </a:solidFill>
          <a:ln>
            <a:solidFill>
              <a:srgbClr val="EBF2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0" y="1645920"/>
            <a:ext cx="154533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Encodage gender
3 variables métier
Data leakage détecté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41064" y="1836420"/>
            <a:ext cx="164592" cy="7620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05656" y="1188720"/>
            <a:ext cx="1691640" cy="384048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05656" y="124358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Régression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05656" y="1572768"/>
            <a:ext cx="1691640" cy="987552"/>
          </a:xfrm>
          <a:prstGeom prst="rect">
            <a:avLst/>
          </a:prstGeom>
          <a:solidFill>
            <a:srgbClr val="EBF2FC"/>
          </a:solidFill>
          <a:ln>
            <a:solidFill>
              <a:srgbClr val="EBF2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78808" y="1645920"/>
            <a:ext cx="154533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6 modèles
RandomizedSearchCV
K-Fold k=5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33872" y="1836420"/>
            <a:ext cx="164592" cy="7620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98464" y="1188720"/>
            <a:ext cx="1691640" cy="384048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98464" y="124358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Classification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98464" y="1572768"/>
            <a:ext cx="1691640" cy="987552"/>
          </a:xfrm>
          <a:prstGeom prst="rect">
            <a:avLst/>
          </a:prstGeom>
          <a:solidFill>
            <a:srgbClr val="EBF2FC"/>
          </a:solidFill>
          <a:ln>
            <a:solidFill>
              <a:srgbClr val="EBF2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1616" y="1645920"/>
            <a:ext cx="154533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3 modèles
SMOTE vs class_weight
Stratified K-Fold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26680" y="1836420"/>
            <a:ext cx="164592" cy="7620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91272" y="1188720"/>
            <a:ext cx="1691640" cy="384048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91272" y="124358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Clustering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91272" y="1572768"/>
            <a:ext cx="1691640" cy="987552"/>
          </a:xfrm>
          <a:prstGeom prst="rect">
            <a:avLst/>
          </a:prstGeom>
          <a:solidFill>
            <a:srgbClr val="EBF2FC"/>
          </a:solidFill>
          <a:ln>
            <a:solidFill>
              <a:srgbClr val="EBF2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64424" y="1645920"/>
            <a:ext cx="154533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K-Means k=3
CAH Ward
Visualisaton ACP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19488" y="1836420"/>
            <a:ext cx="164592" cy="7620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84080" y="1188720"/>
            <a:ext cx="1691640" cy="384048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124358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Interprétabilité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84080" y="1572768"/>
            <a:ext cx="1691640" cy="987552"/>
          </a:xfrm>
          <a:prstGeom prst="rect">
            <a:avLst/>
          </a:prstGeom>
          <a:solidFill>
            <a:srgbClr val="EBF2FC"/>
          </a:solidFill>
          <a:ln>
            <a:solidFill>
              <a:srgbClr val="EBF2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57232" y="1645920"/>
            <a:ext cx="154533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Coefficients LR/Ridge
FI Gini RF/XGB
SHAP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2834640"/>
            <a:ext cx="11548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05050"/>
                </a:solidFill>
              </a:rPr>
              <a:t>Approche itérative : chaque étape informe la suivante (EDA → leakage détecté → feature engineering révisé → modèles)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20040" y="3291840"/>
          <a:ext cx="1154887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Tâche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Meilleur modèle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R² / AUC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Silhouette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Conclusion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Régression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XGBoost tuné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R² = 0.0001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Aucun signal — tous équivalents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Classification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Logistic Regression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AUC = 0.499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Équivalent tirage aléatoire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Clustering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K-Means k=3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Profils biologiques interprétables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16403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Analyse exploratoire — 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468C"/>
                </a:solidFill>
              </a:rPr>
              <a:t>Distributions des variables continues</a:t>
            </a:r>
          </a:p>
        </p:txBody>
      </p:sp>
      <p:pic>
        <p:nvPicPr>
          <p:cNvPr id="6" name="Picture 5" descr="distributions_contin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132320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468C"/>
                </a:solidFill>
              </a:rPr>
              <a:t>Corrélations avec la cible</a:t>
            </a:r>
          </a:p>
        </p:txBody>
      </p:sp>
      <p:pic>
        <p:nvPicPr>
          <p:cNvPr id="8" name="Picture 7" descr="correlations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280160"/>
            <a:ext cx="4114800" cy="30861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4937760"/>
            <a:ext cx="11457432" cy="1554480"/>
          </a:xfrm>
          <a:prstGeom prst="rect">
            <a:avLst/>
          </a:prstGeom>
          <a:solidFill>
            <a:srgbClr val="EBF2FC"/>
          </a:solidFill>
          <a:ln>
            <a:solidFill>
              <a:srgbClr val="EBF2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4937760"/>
            <a:ext cx="73152" cy="1554480"/>
          </a:xfrm>
          <a:prstGeom prst="rect">
            <a:avLst/>
          </a:prstGeom>
          <a:solidFill>
            <a:srgbClr val="B41E1E"/>
          </a:solidFill>
          <a:ln>
            <a:solidFill>
              <a:srgbClr val="B4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98348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1E1E"/>
                </a:solidFill>
              </a:rPr>
              <a:t>Résultat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257800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Toutes les corrélations sont &lt; |0.01|. La variable la plus corrélée à disease_risk est resting_hr avec r = 0.005 — statistiquement non significatif sur 100 000 individus. Conclusion : disease_risk a été généré indépendamment. Justification pour méthodes non-linéaires (RF, XGBoost).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16403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Feature Engineering — 16 variables explicatives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68C"/>
                </a:solidFill>
              </a:rPr>
              <a:t>Encodage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gender → gender_enc (0/1)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Suppression de id (identifiant sans pouvoir prédictif)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6060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68C"/>
                </a:solidFill>
              </a:rPr>
              <a:t>3 variables métier créées (connaissances médicales)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hypertension : systolic_bp ≥ 140 ou diastolic_bp ≥ 90  (seuil ESC)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bmi_cat : 0=sous-poids / 1=normal / 2=surpoids / 3=obèse  (seuil OMS)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lifestyle_score : score composite (steps + sleep + water – smoker – alcohol – bmi – calories)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097280"/>
            <a:ext cx="5852160" cy="347472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133856"/>
            <a:ext cx="5669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⚠  Data Leakage détecté et corrigé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444752"/>
            <a:ext cx="5852160" cy="1664208"/>
          </a:xfrm>
          <a:prstGeom prst="rect">
            <a:avLst/>
          </a:prstGeom>
          <a:solidFill>
            <a:srgbClr val="EBF2FC"/>
          </a:solidFill>
          <a:ln>
            <a:solidFill>
              <a:srgbClr val="EBF2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53328" y="1481328"/>
            <a:ext cx="563270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</a:rPr>
              <a:t>▸  hypercholesterol = 1 si cholesterol &gt; 200 mg/dL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Directement dérivée de la variable cible → 'donner la réponse' au modèle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R² artificiel = 0.675 avec leakage  →  R² ≈ 0 après suppression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Exclue de la régression, conservée uniquement pour le clustering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246120"/>
            <a:ext cx="5852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68C"/>
                </a:solidFill>
              </a:rPr>
              <a:t>Mise à l'échelle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Standardisation z-score pour les modèles linéaires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Normalisation min-max pour K-Means (distance euclidienne)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029200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468C"/>
                </a:solidFill>
              </a:rPr>
              <a:t>Dataset final : 15 variables → 16 features explicatives  (14 − 1 + 3 = 16)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16403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Régression — Protocole &amp; justification des modèles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68C"/>
                </a:solidFill>
              </a:rPr>
              <a:t>Protocole expérimental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Split 80/20  (random_state=42)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Validation croisée K-Fold k=5  →  stabilité de l'estimation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Tuning : RandomizedSearchCV n_iter=20  (plus rapide que GridSearch)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Métriques : R², RMSE, MAE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2651760"/>
          <a:ext cx="512064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</a:tblGrid>
              <a:tr h="463731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Modèle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Justification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Régression linéaire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Baseline — référence obligatoire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Ridge (L2)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Réduit les coefficients sans les annuler — stabilise si variables peu informatives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Lasso (L1)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Force des coefficients à 0 → sélection automatique de variables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ElasticNet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Combine L1 + L2 — robuste quand on ne sait pas lequel convient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Ensembliste non-linéaire, parallèle — capte interactions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3734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Ensembliste séquentiel — corrige les erreurs itérativement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60720" y="105156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468C"/>
                </a:solidFill>
              </a:rPr>
              <a:t>Logique : spectre de complexité croissante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46304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</a:rPr>
              <a:t>▸  Baseline linéaire → plancher de performance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Régularisées → teste si contraindre les coeff. aide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Ensemblistes → capture les non-linéarités potentielles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Si complexe ≤ baseline → complexité non justifiée (Occam)</a:t>
            </a:r>
          </a:p>
        </p:txBody>
      </p:sp>
      <p:pic>
        <p:nvPicPr>
          <p:cNvPr id="9" name="Picture 8" descr="distributions_contin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017520"/>
            <a:ext cx="603504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16403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Régression — Résultats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51560"/>
          <a:ext cx="6766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14400"/>
                <a:gridCol w="1371600"/>
                <a:gridCol w="1371600"/>
                <a:gridCol w="914400"/>
              </a:tblGrid>
              <a:tr h="372291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Modèle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RMSE (mg/dL)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MAE (mg/dL)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CV-R²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Linéaire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43.33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37.59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≈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Ridge (λ=7197, tuné)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0.0001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43.33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37.59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≈ 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Lasso (λ=9.54, tuné)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−0.000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43.33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37.60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≈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ElasticNet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−0.000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43.33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37.60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≈ 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Random Forest (tuné)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−0.005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43.44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37.67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≈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XGBoost (tuné)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0.0001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43.33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37.59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≈ 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840480"/>
            <a:ext cx="6858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68C"/>
                </a:solidFill>
              </a:rPr>
              <a:t>Analyse critique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▸  Lasso (tuné) : 16/16 coefficients = 0 → prédit uniquement la moyenne (224.3 mg/dL)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▸  Random Forest non-tuné : R² &lt; 0 → pire que prédire la moyenne (surajustement du bruit)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▸  Data leakage corrigé : R² artificiel 0.675 → ≈ 0 après suppression de hypercholesterol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▸  Aucun modèle retenu : différences entre −0.005 et 0.0001 sont statistiquement négligeables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▸  Cause fondamentale : variables générées indépendamment — signal absent par construction</a:t>
            </a:r>
          </a:p>
        </p:txBody>
      </p:sp>
      <p:pic>
        <p:nvPicPr>
          <p:cNvPr id="7" name="Picture 6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051560"/>
            <a:ext cx="438912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45720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05050"/>
                </a:solidFill>
              </a:rPr>
              <a:t>Matrice de corrélation — toutes valeurs &lt; |0.01|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16403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Classification — Résultats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51560"/>
          <a:ext cx="5715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777240"/>
                <a:gridCol w="777240"/>
                <a:gridCol w="777240"/>
                <a:gridCol w="640080"/>
                <a:gridCol w="82296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Modèle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Précision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Rappel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Naïf (tout à 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0.752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Logistic Regression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0.498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0.249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0.509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0.335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0.499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0.568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0.245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0.355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0.494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0.525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0.246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0.441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0.316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0.499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200400"/>
            <a:ext cx="59436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68C"/>
                </a:solidFill>
              </a:rPr>
              <a:t>Analyse critique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▸  AUC ≈ 0.5 pour tous = équivalent à un tirage aléatoire (pile ou face)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▸  class_weight='balanced' : rappel monte mais accuracy &lt; 50% → sur-correction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▸  SMOTE : même résultat — ne peut pas créer un signal absent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▸  Accuracy seule trompeuse sur données déséquilibrées (75/25) → F1 + AUC obligatoires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▸  Cohérent avec régression : disease_risk généré indépendamment de toutes les variables</a:t>
            </a:r>
          </a:p>
        </p:txBody>
      </p:sp>
      <p:pic>
        <p:nvPicPr>
          <p:cNvPr id="7" name="Picture 6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960120"/>
            <a:ext cx="2926080" cy="25080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37947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05050"/>
                </a:solidFill>
              </a:rPr>
              <a:t>Courbes ROC — AUC ≈ 0.5</a:t>
            </a:r>
          </a:p>
        </p:txBody>
      </p:sp>
      <p:pic>
        <p:nvPicPr>
          <p:cNvPr id="9" name="Picture 8" descr="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960120"/>
            <a:ext cx="2651760" cy="707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235440" y="37947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05050"/>
                </a:solidFill>
              </a:rPr>
              <a:t>Matrices de confusion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16403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Clustering — K-Means &amp; CAH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468C"/>
                </a:solidFill>
              </a:rPr>
              <a:t>K-Means  (k=3, 100 000 individus)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25880"/>
          <a:ext cx="50292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1965960"/>
                <a:gridCol w="1143000"/>
                <a:gridCol w="1234440"/>
              </a:tblGrid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Cluster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Profil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IMC moy.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Syst. (mmHg)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Obèse hypertendu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35.0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142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Surpoids normotendu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29.1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115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Normal hypertendu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24.0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142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05050"/>
                </a:solidFill>
              </a:rPr>
              <a:t>Partition selon IMC + pression systolique (variables à plus grande variance)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246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468C"/>
                </a:solidFill>
              </a:rPr>
              <a:t>CAH Ward  (n=5 000 — complexité O(n²))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566160"/>
          <a:ext cx="50292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1965960"/>
                <a:gridCol w="1143000"/>
                <a:gridCol w="1234440"/>
              </a:tblGrid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Cluster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Profil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% Fumeurs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Syst.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Non-fumeurs, HTA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142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Fumeurs modérés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18%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115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Fumeurs intenses, HTA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142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074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05050"/>
                </a:solidFill>
              </a:rPr>
              <a:t>CAH isole le groupe fumeurs intenses — K-Means les aurait dilués</a:t>
            </a:r>
          </a:p>
        </p:txBody>
      </p:sp>
      <p:pic>
        <p:nvPicPr>
          <p:cNvPr id="11" name="Picture 10" descr="kmeans_selection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960120"/>
            <a:ext cx="3291840" cy="1097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0" y="3794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05050"/>
                </a:solidFill>
              </a:rPr>
              <a:t>Sélection k — k=3 maximise la silhouette</a:t>
            </a:r>
          </a:p>
        </p:txBody>
      </p:sp>
      <p:pic>
        <p:nvPicPr>
          <p:cNvPr id="13" name="Picture 12" descr="kmeans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960120"/>
            <a:ext cx="3017520" cy="22631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61120" y="37947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05050"/>
                </a:solidFill>
              </a:rPr>
              <a:t>Clusters K-Means — ACP 2D (24.3% variance)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0" y="4206240"/>
          <a:ext cx="64008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005840"/>
                <a:gridCol w="1463040"/>
                <a:gridCol w="2743200"/>
              </a:tblGrid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Méthode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Silhouette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Davies-Bouldin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K-Means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0.103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2.655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Faible — attendu sur données sans structure causale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CAH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0.105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2.721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ACP 2D = 24.3% var. (15 dims quasi-indépendantes)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16403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Interprétabilité — 5 méthodes comparées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Méthodes : coefficients LR &amp; Ridge  |  Feature Importance Gini (RF &amp; XGBoost)  |  SHAP (XGBoost)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4983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02920"/>
                <a:gridCol w="502920"/>
                <a:gridCol w="502920"/>
                <a:gridCol w="640080"/>
                <a:gridCol w="640080"/>
                <a:gridCol w="6400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LR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XGB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SHAP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Ridge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Score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systolic_bp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5/5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daily_steps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·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·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3/5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family_history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3/5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bmi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·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·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·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2/5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3383280"/>
            <a:ext cx="5029200" cy="347472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419856"/>
            <a:ext cx="4846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Analyse critique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30752"/>
            <a:ext cx="5029200" cy="1938528"/>
          </a:xfrm>
          <a:prstGeom prst="rect">
            <a:avLst/>
          </a:prstGeom>
          <a:solidFill>
            <a:srgbClr val="EBF2FC"/>
          </a:solidFill>
          <a:ln>
            <a:solidFill>
              <a:srgbClr val="EBF2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767328"/>
            <a:ext cx="480974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</a:rPr>
              <a:t>▸  Les 5 méthodes ne convergent pas → mesurent du bruit aléatoire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systolic_bp seule présente partout : grande variance, pas signal causal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Divergence = résultat analytique en soi (Rudin 2019)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Sur données réelles : cholestérol, tabagisme, IMC domineraient clairement</a:t>
            </a:r>
          </a:p>
        </p:txBody>
      </p:sp>
      <p:pic>
        <p:nvPicPr>
          <p:cNvPr id="11" name="Picture 10" descr="rf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05840"/>
            <a:ext cx="3200400" cy="2400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77840" y="397763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05050"/>
                </a:solidFill>
              </a:rPr>
              <a:t>Feature importance (Gini) — Random Forest</a:t>
            </a:r>
          </a:p>
        </p:txBody>
      </p:sp>
      <p:pic>
        <p:nvPicPr>
          <p:cNvPr id="13" name="Picture 12" descr="shap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1005840"/>
            <a:ext cx="3108960" cy="314126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69680" y="397763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05050"/>
                </a:solidFill>
              </a:rPr>
              <a:t>SHAP summary plot — XGBoost</a:t>
            </a:r>
          </a:p>
        </p:txBody>
      </p:sp>
      <p:pic>
        <p:nvPicPr>
          <p:cNvPr id="15" name="Picture 14" descr="lr_coeffici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4297680"/>
            <a:ext cx="6400800" cy="4800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577840" y="58064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05050"/>
                </a:solidFill>
              </a:rPr>
              <a:t>Coefficients Logistic Regression (variables standardisées)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16403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Bilan — Résultat central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11457432" cy="914400"/>
          </a:xfrm>
          <a:prstGeom prst="rect">
            <a:avLst/>
          </a:prstGeom>
          <a:solidFill>
            <a:srgbClr val="EBF2FC"/>
          </a:solidFill>
          <a:ln>
            <a:solidFill>
              <a:srgbClr val="EBF2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73152" cy="914400"/>
          </a:xfrm>
          <a:prstGeom prst="rect">
            <a:avLst/>
          </a:prstGeom>
          <a:solidFill>
            <a:srgbClr val="B41E1E"/>
          </a:solidFill>
          <a:ln>
            <a:solidFill>
              <a:srgbClr val="B4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41E1E"/>
                </a:solidFill>
              </a:rPr>
              <a:t>Limite fondamentale du dataset synthétique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Les variables ont été générées indépendamment, sans relation causale encodée. Aucune technique ne peut extraire un signal qui n'existe pas.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41E1E"/>
                </a:solidFill>
              </a:rPr>
              <a:t>Preuves convergentes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Corrélations &lt; 0.01 en EDA le prédisait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Lasso : 16/16 coefficients = 0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R² ≈ 0 et AUC ≈ 0.5 pour tous les modèles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Data leakage détecté (R² 0.675 → 0)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Interprétabilité divergente (5 méthodes)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148840"/>
            <a:ext cx="5760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68C"/>
                </a:solidFill>
              </a:rPr>
              <a:t>Ce n'est pas un échec — valeur méthodologique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Pipeline complet et rigoureux (CRISP-DM)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Bonne pratique détection data leakage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Validation croisée stratifiée systématique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Deux stratégies d'imbalance comparées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▸  Directement transposable à des données réelles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663440"/>
            <a:ext cx="11457432" cy="100584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7548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« Savoir diagnostiquer pourquoi un modèle échoue est aussi précieux que d'en construire un qui réussit. 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16403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Perspectives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577840" cy="1417320"/>
          </a:xfrm>
          <a:prstGeom prst="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384048" cy="141732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0020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234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468C"/>
                </a:solidFill>
              </a:rPr>
              <a:t>Changer de dataset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Cohortes Framingham ou NHANES — vraies relations biologiques, même pipeline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43200"/>
            <a:ext cx="5577840" cy="1417320"/>
          </a:xfrm>
          <a:prstGeom prst="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743200"/>
            <a:ext cx="384048" cy="141732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20040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346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468C"/>
                </a:solidFill>
              </a:rPr>
              <a:t>Améliorer la classification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Stacking, réseaux de neurones (Deep Learning, M2) — SMOTE déjà intégré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343400"/>
            <a:ext cx="5577840" cy="1417320"/>
          </a:xfrm>
          <a:prstGeom prst="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4343400"/>
            <a:ext cx="384048" cy="141732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80060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468C"/>
                </a:solidFill>
              </a:rPr>
              <a:t>Déploiement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8006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API REST (FastAPI) : profil individuel → prédiction + valeurs SHAP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1143000"/>
            <a:ext cx="5577840" cy="1417320"/>
          </a:xfrm>
          <a:prstGeom prst="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1143000"/>
            <a:ext cx="384048" cy="141732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234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468C"/>
                </a:solidFill>
              </a:rPr>
              <a:t>Interprétabilité avancée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600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Partial Dependence Plots (PDP), ICE — limites de SHAP agrégé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2743200"/>
            <a:ext cx="5577840" cy="1417320"/>
          </a:xfrm>
          <a:prstGeom prst="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2743200"/>
            <a:ext cx="384048" cy="141732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320040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8346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468C"/>
                </a:solidFill>
              </a:rPr>
              <a:t>Data drift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Suivi AUC sur nouvelles cohortes, réentraînement périodique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4343400"/>
            <a:ext cx="5577840" cy="1417320"/>
          </a:xfrm>
          <a:prstGeom prst="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4343400"/>
            <a:ext cx="384048" cy="141732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480060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4348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468C"/>
                </a:solidFill>
              </a:rPr>
              <a:t>Master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8006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Causalité, fairness algorithmique, apprentissage fédéré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00468C"/>
          </a:solidFill>
          <a:ln>
            <a:solidFill>
              <a:srgbClr val="004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Merci pour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C8DCFF"/>
                </a:solidFill>
              </a:rPr>
              <a:t>Questions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87878"/>
                </a:solidFill>
              </a:rPr>
              <a:t>Ardacham Mahamat Teguene  —  M1 MIASHS  —  Université de Montpellier Paul Valéry  —  Juin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