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468C"/>
                </a:solidFill>
              </a:rPr>
              <a:t>Fondements Théoriques &amp; Méthodes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39312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0066CC"/>
                </a:solidFill>
              </a:rPr>
              <a:t>État de l'art  ·  Feature Engineering  ·  Régression  ·  Classification  · 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92040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Ardacham Mahamat Teguene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57800"/>
            <a:ext cx="10725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05050"/>
                </a:solidFill>
              </a:rPr>
              <a:t>Master 1 MIASHS  —  Université de Montpellier Paul Valéry  — 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502920" cy="86868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070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07899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468C"/>
                </a:solidFill>
              </a:rPr>
              <a:t>État de l'art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</a:rPr>
              <a:t>ML en santé, familles d'algorithmes, SHAP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48256"/>
            <a:ext cx="502920" cy="86868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2311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031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468C"/>
                </a:solidFill>
              </a:rPr>
              <a:t>Feature Engineering &amp; Data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</a:rPr>
              <a:t>Encodage, variables métier, détection du leakage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72384"/>
            <a:ext cx="502920" cy="86868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25526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2724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468C"/>
                </a:solidFill>
              </a:rPr>
              <a:t>Régression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112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</a:rPr>
              <a:t>6 modèles, formules Ridge/Lasso/RF/XGB, métriques R²/RMSE/MAE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96512"/>
            <a:ext cx="502920" cy="86868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2793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51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468C"/>
                </a:solidFill>
              </a:rPr>
              <a:t>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35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</a:rPr>
              <a:t>Précision/Rappel/F1/AUC, SMOTE, class_weight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120640"/>
            <a:ext cx="502920" cy="86868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5303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755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468C"/>
                </a:solidFill>
              </a:rPr>
              <a:t>Clustering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595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</a:rPr>
              <a:t>K-Means, CAH Ward, silhouette, Davies-Bouldin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2651760"/>
            <a:ext cx="4206240" cy="146304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27889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66CC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32918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68C"/>
                </a:solidFill>
              </a:rPr>
              <a:t>État de l'art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A — État de l'art : ML en santé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50976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8C"/>
                </a:solidFill>
              </a:rPr>
              <a:t>Littérature de référence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Obermeyer &amp; Emanuel (2016) : ML dépasse les méthodes statistiques classiques
    pour anticiper les événements cliniques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Rajpurkar et al. — Nature Medicine (2022) : panorama de l'état de l'art :
    diagnostic assisté par IA, prédiction risque chronique, personnalisation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Booth et al. (2012) : maladies chroniques issues de comportements
    quotidiens mesurables → ML peut modéliser ces trajectoires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374136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8C"/>
                </a:solidFill>
              </a:rPr>
              <a:t>Applications en santé numérique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Prédiction du risque cardiovasculaire (cholestérol, HTA)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Détection précoce du diabète de type 2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Stratification de patients par profil de mode de vie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Double enjeu : prédire ET expliquer (interprétabilité)</a:t>
            </a:r>
          </a:p>
        </p:txBody>
      </p:sp>
      <p:pic>
        <p:nvPicPr>
          <p:cNvPr id="8" name="Picture 7" descr="machine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50976"/>
            <a:ext cx="5623560" cy="28575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020056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6464"/>
                </a:solidFill>
              </a:rPr>
              <a:t>Vue d'ensemble des familles d'algorithmes ML  (d'après Rajpurkar et al., 2022)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A — Comparatif des algorithmes utilisés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950976"/>
          <a:ext cx="11750039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143000"/>
                <a:gridCol w="3383280"/>
                <a:gridCol w="3749039"/>
              </a:tblGrid>
              <a:tr h="3703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Algorithme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Famille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Avantage clé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Limite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Régression linéaire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Linéaire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Supervisé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Interprétable,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Relations linéaires seulement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Ridge (L2)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Régularisée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Supervisé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Stabilise coeff. instables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Ne sélectionne pas les variables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Lasso (L1)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Régularisée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Supervisé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Sélection automatique vars.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Élimine variables corrélées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ElasticNet (L1+L2)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Régularisée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Supervisé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Combine Ridge + Lasso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2 hyperparamètres à tuner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Ensembliste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Supervisé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Non-linéaire, parallèle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Peu interprétable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Ensembliste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Supervisé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Corrige erreurs séquentiel.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Risque surapprentissage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Linéaire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Classif.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Interprétable, rapide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Frontière de décision linéaire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K-Means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Partitionnel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Non superv.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Rapide, O(n)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k fixé, sensible aux outliers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CAH 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Hiérarchique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Non superv.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Dendrogramme lisible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O(n²) → 5 000 individus 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20040" y="4791456"/>
            <a:ext cx="11521440" cy="347472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8280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Interprétabilité — SHAP (Lundberg &amp; Lee, 2017)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5138928"/>
            <a:ext cx="11521440" cy="6583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5184648"/>
            <a:ext cx="113019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–  Issu de la théorie des jeux coopératifs — valeur de Shapley par variable</a:t>
            </a:r>
          </a:p>
          <a:p>
            <a:r>
              <a:rPr sz="1300">
                <a:solidFill>
                  <a:srgbClr val="000000"/>
                </a:solidFill>
              </a:rPr>
              <a:t>–  Donne la contribution marginale de chaque variable pour chaque prédiction individuelle</a:t>
            </a:r>
          </a:p>
          <a:p>
            <a:r>
              <a:rPr sz="1300">
                <a:solidFill>
                  <a:srgbClr val="000000"/>
                </a:solidFill>
              </a:rPr>
              <a:t>–  Plus riche que feature importance globale : explication locale + direction (signe positif ou négatif)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2651760"/>
            <a:ext cx="4206240" cy="146304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27889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66CC"/>
                </a:solidFill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32918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68C"/>
                </a:solidFill>
              </a:rPr>
              <a:t>Feature Engineering
&amp; Data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B — Feature Engineering : 15 → 16 variables explicatives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950976"/>
          <a:ext cx="5943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37744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Transformation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Détail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Motivation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Suppression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Identifiant sans pouvoir prédictif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Éviter le surapprentissage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Encodage gender→0/1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female=0, male=1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Modèles numériques requis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hypertension (new)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1 si syst.≥140 ou diast.≥90  (ESC)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Seuil médical officiel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bmi_cat (new)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0=sous-poids, 1=normal, 2=surpoids, 3=obèse  (OMS)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Catégories cliniques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lifestyle_score (new)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score composite steps+sleep+water−smoker−alcool−bmi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Indice synthétique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282696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8C"/>
                </a:solidFill>
              </a:rPr>
              <a:t>Mise à l'échelle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z-score pour modèles linéaires :  x' = (x − μ) / σ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min-max pour K-Means :  x' = (x − xmin) / (xmax − xmin)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745736"/>
            <a:ext cx="5943600" cy="100584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745736"/>
            <a:ext cx="50800" cy="10058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4800600"/>
            <a:ext cx="5705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lifestyle_score = steps + sleep + water − smoker − alcohol − bmi_z − calories_z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5166360"/>
            <a:ext cx="5705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Toutes les variables standardisées avant combinaison → contribution équitable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950976"/>
            <a:ext cx="5440680" cy="347472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98755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Variable hypercholesterol — rôle en clustering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298448"/>
            <a:ext cx="5440680" cy="148132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344168"/>
            <a:ext cx="5221224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–  Définie comme : cholesterol &gt; 200 mg/dL  (NCEP)</a:t>
            </a:r>
          </a:p>
          <a:p>
            <a:r>
              <a:rPr sz="1300">
                <a:solidFill>
                  <a:srgbClr val="000000"/>
                </a:solidFill>
              </a:rPr>
              <a:t>–  Conservée UNIQUEMENT pour le clustering (description des profils)</a:t>
            </a:r>
          </a:p>
          <a:p>
            <a:r>
              <a:rPr sz="1300">
                <a:solidFill>
                  <a:srgbClr val="000000"/>
                </a:solidFill>
              </a:rPr>
              <a:t>–  Exclue de la régression : sinon data leakage →  voir slide suivante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16936"/>
            <a:ext cx="5440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8C"/>
                </a:solidFill>
              </a:rPr>
              <a:t>Bilan des features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Dataset initial : 15 variables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− 1 variable supprimée (id)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+ 3 variables créées (hypertension, bmi_cat, lifestyle_score)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= 16 features explicatives finales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hypercholesterol : exclue régression, incluse clustering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Cibles : cholesterol (régression)  |  disease_risk (classification)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B — Data Leakage : détection et correction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50976"/>
            <a:ext cx="11548872" cy="347472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Définition — Data Leakage  (Kaufman et al., 2012)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11548872" cy="56692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344168"/>
            <a:ext cx="113294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–  Une feature contient directement ou indirectement l'information de la variable cible</a:t>
            </a:r>
          </a:p>
          <a:p>
            <a:r>
              <a:rPr sz="1300">
                <a:solidFill>
                  <a:srgbClr val="000000"/>
                </a:solidFill>
              </a:rPr>
              <a:t>–  → le modèle 'voit' la réponse pendant l'entraînement → performances artificiellement gonflées</a:t>
            </a:r>
          </a:p>
          <a:p>
            <a:r>
              <a:rPr sz="1300">
                <a:solidFill>
                  <a:srgbClr val="000000"/>
                </a:solidFill>
              </a:rPr>
              <a:t>–  → sur nouvelles données (sans la variable leakée) : effondrement total des performances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02536"/>
            <a:ext cx="5394960" cy="21945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002536"/>
            <a:ext cx="50800" cy="2194560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939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41E1E"/>
                </a:solidFill>
              </a:rPr>
              <a:t>Leakage détecté dans ce projet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865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68C"/>
                </a:solidFill>
              </a:rPr>
              <a:t>hypercholesterol = 1  si  cholesterol &gt; 200 mg/dL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52344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→ c'est une transformation directe de la variable cible (cholesterol)
→ inclure cette variable revient à 'donner la réponse' au modèle
→ corrélation hypercholesterol / cholesterol = 0.87
→ R² artificiellement gonflé à 0.675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002536"/>
            <a:ext cx="5897880" cy="21945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2002536"/>
            <a:ext cx="50800" cy="2194560"/>
          </a:xfrm>
          <a:prstGeom prst="rect">
            <a:avLst/>
          </a:prstGeom>
          <a:solidFill>
            <a:srgbClr val="0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09397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3C"/>
                </a:solidFill>
              </a:rPr>
              <a:t>Correction appliquée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414016"/>
            <a:ext cx="5577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Étape 1 — Détection : analyse de la définition de chaque variable
  + vérification des corrélations feature/cible
Étape 2 — Suppression : hypercholesterol retirée du jeu
  d'entraînement en régression
Résultat : R² 0.675  →  ≈ 0  (résultat honnête)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379976"/>
            <a:ext cx="11548872" cy="77724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379976"/>
            <a:ext cx="50800" cy="7772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4434840"/>
            <a:ext cx="11311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R²  avec leakage = 0.675    →    R²  sans leakage ≈ 0.0001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4800600"/>
            <a:ext cx="1131112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Preuve que 0.675 était artificiel — aucun signal réel dans les données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157216"/>
            <a:ext cx="11548872" cy="347472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193792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Règle générale — Prévenir le data leakage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504688"/>
            <a:ext cx="11548872" cy="56692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5550408"/>
            <a:ext cx="113294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–  Toujours auditer la définition de chaque feature avant modélisation</a:t>
            </a:r>
          </a:p>
          <a:p>
            <a:r>
              <a:rPr sz="1300">
                <a:solidFill>
                  <a:srgbClr val="000000"/>
                </a:solidFill>
              </a:rPr>
              <a:t>–  Vérifier les corrélations feature/cible — une corrélation &gt; 0.5 est suspecte sur données synthétiques</a:t>
            </a:r>
          </a:p>
          <a:p>
            <a:r>
              <a:rPr sz="1300">
                <a:solidFill>
                  <a:srgbClr val="000000"/>
                </a:solidFill>
              </a:rPr>
              <a:t>–  Ne jamais calculer des features à partir de la variable cible (même indirectement)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2651760"/>
            <a:ext cx="4206240" cy="146304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27889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66CC"/>
                </a:solidFill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32918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68C"/>
                </a:solidFill>
              </a:rPr>
              <a:t>Régression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C — Régression : métriques d'évaluation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50976"/>
            <a:ext cx="11567160" cy="8229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50976"/>
            <a:ext cx="50800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005840"/>
            <a:ext cx="11329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R²  =  1  −  Σᵢ (yᵢ − ŷᵢ)²  /  Σᵢ (yᵢ − ȳ)²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371600"/>
            <a:ext cx="11329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R²=1 : prédiction parfaite  |  R²=0 : modèle prédit la moyenne  |  R²&lt;0 : pire que la moyenne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11096"/>
            <a:ext cx="5577840" cy="77724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911096"/>
            <a:ext cx="50800" cy="7772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965960"/>
            <a:ext cx="5340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RMSE  =  √[ (1/n) × Σᵢ (yᵢ − ŷᵢ)²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331720"/>
            <a:ext cx="53400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En mg/dL — pénalise les grandes erreurs (carré). Ici RMSE ≈ 43.33 mg/dL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911096"/>
            <a:ext cx="5897880" cy="77724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911096"/>
            <a:ext cx="50800" cy="7772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965960"/>
            <a:ext cx="5660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MAE  =  (1/n) × Σᵢ |yᵢ − ŷᵢ|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2331720"/>
            <a:ext cx="56601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Erreur absolue moyenne — plus robuste aux outliers. Ici MAE ≈ 37.59 mg/dL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871216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05050"/>
                </a:solidFill>
              </a:rPr>
              <a:t>Notations :  yᵢ = valeur observée  |  ŷᵢ = valeur prédite  |  ȳ = moyenne observée  |  n = nb d'observations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3282696"/>
          <a:ext cx="1156716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5852160"/>
                <a:gridCol w="4023360"/>
              </a:tblGrid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Valeur de R²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Interprétation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Dans ce projet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R² =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Prédiction parfaite — modèle explique 100% de la 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R² = 0.3–0.7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Signal détecté — modèle utile mais imprécis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Attendu sur données réelles (cholestérol)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R² ≈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Modèle prédit uniquement la moyenne — aucun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Résultat obtenu : tous les modèles ≈ 0.0001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R² &lt; 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Pire que la moyenne — surapprentissage du bruit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Random Forest non tuné : R² = −0.005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320040" y="4837175"/>
            <a:ext cx="11548872" cy="347472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873751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Protocole : Split 80/20 + K-Fold k=5 + RandomizedSearchCV n_iter=20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184647"/>
            <a:ext cx="11548872" cy="61264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5230367"/>
            <a:ext cx="1132941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–  Split 80/20 : 80 000 train / 20 000 test  (random_state=42 pour reproductibilité)</a:t>
            </a:r>
          </a:p>
          <a:p>
            <a:r>
              <a:rPr sz="1300">
                <a:solidFill>
                  <a:srgbClr val="000000"/>
                </a:solidFill>
              </a:rPr>
              <a:t>–  K-Fold k=5 : 5 itérations × 16 000 individus/fold — estimation robuste du score hors-échantillon</a:t>
            </a:r>
          </a:p>
          <a:p>
            <a:r>
              <a:rPr sz="1300">
                <a:solidFill>
                  <a:srgbClr val="000000"/>
                </a:solidFill>
              </a:rPr>
              <a:t>–  RandomizedSearchCV : 20 tirages aléatoires d'hyperparamètres × k=5 = 100 entraînements vs GridSearch exhaustif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C — Régression linéaire, Ridge (L2) et Lasso (L1)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50976"/>
            <a:ext cx="11548872" cy="25603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784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Régression linéaire —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978408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</a:rPr>
              <a:t>Si modèles plus complexes ≤ baseline → complexité non justifiée (rasoir d'Occam)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35024"/>
            <a:ext cx="5577840" cy="123444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35024"/>
            <a:ext cx="50800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389888"/>
            <a:ext cx="5340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ℒ_OLS = Σᵢ (yᵢ − ŷᵢ)²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755648"/>
            <a:ext cx="53400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Minimise la somme des carrés des résidus (OLS).
Hypothèse forte : relation linéaire entre features et cible.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335024"/>
            <a:ext cx="5897880" cy="123444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335024"/>
            <a:ext cx="50800" cy="1234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1389888"/>
            <a:ext cx="5660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ŷ = w₀ + w₁x₁ + w₂x₂ + … + wₚxₚ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1755648"/>
            <a:ext cx="566013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wⱼ = coefficient associé à la variable xⱼ.
Résultat : Lasso fixe les 16 coeff. / 16 à zéro → prédiction = ȳ = 224.3 mg/dL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734055"/>
            <a:ext cx="11548872" cy="25603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614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Ridge — Régularisation L2  (Hoerl &amp; Kennard, 1970)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18104"/>
            <a:ext cx="5577840" cy="12801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118104"/>
            <a:ext cx="50800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3172968"/>
            <a:ext cx="5340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ℒ_Ridge = Σᵢ (yᵢ − ŷᵢ)²  +  λ × Σⱼ wⱼ²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538728"/>
            <a:ext cx="534009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λ ≥ 0 : force de régularisation (tuné : λ = 7197)
Réduit les wⱼ vers 0 SANS jamais les annuler complètement.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3118104"/>
            <a:ext cx="5897880" cy="12801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3118104"/>
            <a:ext cx="50800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53912" y="3172968"/>
            <a:ext cx="5660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wⱼ_Ridge = wⱼ_OLS / (1 + λ)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3538728"/>
            <a:ext cx="56601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Réduction proportionnelle à λ.
Plus λ grand → coefficients plus proches de 0 mais jamais nuls.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562856"/>
            <a:ext cx="11548872" cy="25603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5902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Lasso — Régularisation L1  (Tibshirani, 1996)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946904"/>
            <a:ext cx="5577840" cy="12801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946904"/>
            <a:ext cx="50800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" y="5001768"/>
            <a:ext cx="5340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ℒ_Lasso = Σᵢ (yᵢ − ŷᵢ)²  +  λ × Σⱼ |wⱼ|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67528"/>
            <a:ext cx="534009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Pénalité L1 (valeur absolue) → certains wⱼ = 0 exactement
→ sélection automatique de variables. Ici : 16/16 coeff = 0.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4946904"/>
            <a:ext cx="5897880" cy="12801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4946904"/>
            <a:ext cx="50800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53912" y="5001768"/>
            <a:ext cx="5660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wⱼ_Lasso = signe(wⱼ_OLS) × max(|wⱼ_OLS| − λ, 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3912" y="5367528"/>
            <a:ext cx="56601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Seuillage doux (soft thresholding) :
si |wⱼ_OLS| &lt; λ  →  wⱼ_Lasso = 0  (variable éliminée)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C — ElasticNet, Random Forest et XGBoost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50976"/>
            <a:ext cx="11548872" cy="25603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784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ElasticNet — L1 + L2  (Zou &amp; Hastie, 2005)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11548872" cy="9144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35024"/>
            <a:ext cx="508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389888"/>
            <a:ext cx="11311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ℒ_EN = Σᵢ (yᵢ − ŷᵢ)²  +  λ [ ρ × Σⱼ|wⱼ|  +  (1−ρ)/2 × Σⱼ wⱼ²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755648"/>
            <a:ext cx="113111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ρ ∈ [0,1] : mixing parameter.  ρ=1 → Lasso.  ρ=0 → Ridge.  Utile quand on ne sait pas lequel convient.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14016"/>
            <a:ext cx="11548872" cy="25603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414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Random Forest — Bagging d'arbres  (Breiman, 2001)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798064"/>
            <a:ext cx="5577840" cy="12801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798064"/>
            <a:ext cx="50800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852928"/>
            <a:ext cx="5340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ŷ_RF = (1/B) × Σ_{b=1}^{B}  Tᵦ(x)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3218688"/>
            <a:ext cx="534009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B arbres indépendants entraînés sur sous-échantillons aléatoires.
Moyenne des prédictions → réduction de la variance.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798064"/>
            <a:ext cx="5897880" cy="12801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2798064"/>
            <a:ext cx="50800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2852928"/>
            <a:ext cx="5660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FI_Gini(j) = Σ_{t∈arbres} [p(t) × ΔGini(t,j)]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3218688"/>
            <a:ext cx="56601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Feature importance Gini : pondération par la fréquence du nœud.
Attention : surévalue les variables à haute cardinalité.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242816"/>
            <a:ext cx="11548872" cy="25603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702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XGBoost — Gradient Boosting séquentiel  (Chen &amp; Guestrin, 2016)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626864"/>
            <a:ext cx="5577840" cy="12801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626864"/>
            <a:ext cx="50800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4681728"/>
            <a:ext cx="5340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ŷ⁽ᵗ⁾  =  ŷ⁽ᵗ⁻¹⁾  +  η × Tₜ(x)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5047488"/>
            <a:ext cx="534009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η ∈ (0,1] : learning rate. Tₜ : t-ième arbre.
Chaque arbre corrige les erreurs du précédent (boosting).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4626864"/>
            <a:ext cx="5897880" cy="12801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4626864"/>
            <a:ext cx="50800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53912" y="4681728"/>
            <a:ext cx="5660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ℒ⁽ᵗ⁾ = Σᵢ ℓ(yᵢ, ŷᵢ⁽ᵗ⁾) + Ω(Tₜ)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5047488"/>
            <a:ext cx="56601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Ω = régularisation interne L1/L2 sur les feuilles.
Moins sensible au surapprentissage que RF non tuné.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6071616"/>
            <a:ext cx="11548872" cy="6400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6071616"/>
            <a:ext cx="50800" cy="6400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" y="6126480"/>
            <a:ext cx="11311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CV-score = (1/k) × Σ_{i=1}^{k} scoreᵢ     avec k = 5  →  16 000 individus/fold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6492240"/>
            <a:ext cx="11311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Score moyen sur les k folds — estimation stable du R² hors-échantillon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C — Résultats : régression (variable cible : cholesterol)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950976"/>
          <a:ext cx="84124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  <a:gridCol w="868680"/>
                <a:gridCol w="1417320"/>
                <a:gridCol w="1417320"/>
                <a:gridCol w="141732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Modèle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λ optimal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RMSE (mg/dL)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MAE (mg/dL)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CV-R²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Linéaire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43.33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37.59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≈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Ridge  (L2)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7 197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0.0001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43.33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37.59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≈ 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Lasso  (L1)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9.54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−0.000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43.33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37.60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≈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ElasticNet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−0.000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43.33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37.60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≈ 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Random Forest (tuné)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−0.005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43.44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37.67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≈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17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XGBoost (tuné)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0.0001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43.33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37.59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≈ 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778240" y="950976"/>
            <a:ext cx="3090672" cy="347472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987552"/>
            <a:ext cx="2907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Lasso — résultat formel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1298448"/>
            <a:ext cx="3090672" cy="207568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87968" y="1344168"/>
            <a:ext cx="2871216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–  λ=9.54 → 16/16 coeff = 0</a:t>
            </a:r>
          </a:p>
          <a:p>
            <a:r>
              <a:rPr sz="1300">
                <a:solidFill>
                  <a:srgbClr val="000000"/>
                </a:solidFill>
              </a:rPr>
              <a:t>–  Prédit ȳ = 224.3 mg/dL pour tous</a:t>
            </a:r>
          </a:p>
          <a:p>
            <a:r>
              <a:rPr sz="1300">
                <a:solidFill>
                  <a:srgbClr val="000000"/>
                </a:solidFill>
              </a:rPr>
              <a:t>–  Preuve : aucune variable
linéairement prédictive</a:t>
            </a:r>
          </a:p>
          <a:p>
            <a:r>
              <a:rPr sz="1300">
                <a:solidFill>
                  <a:srgbClr val="000000"/>
                </a:solidFill>
              </a:rPr>
              <a:t>–  Sélection automatique = 0 variables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465576"/>
            <a:ext cx="11548872" cy="347472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502152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Analyse critique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813048"/>
            <a:ext cx="11548872" cy="6583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3858768"/>
            <a:ext cx="113294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–  Écart entre R²=−0.005 (RF) et R²=0.0001 (XGBoost) : statistiquement négligeable → pas de meilleur modèle</a:t>
            </a:r>
          </a:p>
          <a:p>
            <a:r>
              <a:rPr sz="1300">
                <a:solidFill>
                  <a:srgbClr val="000000"/>
                </a:solidFill>
              </a:rPr>
              <a:t>–  RF non tuné : R²&lt;0 → surapprentissage du bruit. Tuning ramène à 0.0001 sans changer la conclusion</a:t>
            </a:r>
          </a:p>
          <a:p>
            <a:r>
              <a:rPr sz="1300">
                <a:solidFill>
                  <a:srgbClr val="000000"/>
                </a:solidFill>
              </a:rPr>
              <a:t>–  Cause fondamentale : variables synthétiques générées indépendamment → aucun signal à modéliser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654296"/>
            <a:ext cx="11548872" cy="9144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654296"/>
            <a:ext cx="508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4709160"/>
            <a:ext cx="11311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R²_leakage = 0.675   →   R²_corrigé ≈ 0.0001   (après suppression de hypercholesterol)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5074920"/>
            <a:ext cx="113111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Leakage détecté en analysant les corrélations features/cible et la définition de la variable.</a:t>
            </a:r>
          </a:p>
        </p:txBody>
      </p:sp>
      <p:pic>
        <p:nvPicPr>
          <p:cNvPr id="19" name="Picture 18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751576"/>
            <a:ext cx="11567160" cy="9639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20040" y="6492240"/>
            <a:ext cx="1156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6464"/>
                </a:solidFill>
              </a:rPr>
              <a:t>Matrice de corrélations — toutes valeurs &lt; |0.01|  →  confirme l'absence de signal linéaire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2651760"/>
            <a:ext cx="4206240" cy="146304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27889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66CC"/>
                </a:solidFill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32918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68C"/>
                </a:solidFill>
              </a:rPr>
              <a:t>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D — Classification : métriques d'évaluation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50976"/>
            <a:ext cx="3657600" cy="13258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50976"/>
            <a:ext cx="50800" cy="13258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005840"/>
            <a:ext cx="3419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Précision = TP / (TP + FP)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371600"/>
            <a:ext cx="341985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Parmi les individus classés 'à risque',
combien le sont réellement ?
→ qualité des positifs prédits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950976"/>
            <a:ext cx="3657600" cy="13258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50976"/>
            <a:ext cx="50800" cy="13258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005840"/>
            <a:ext cx="3419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Rappel = TP / (TP + FN)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371600"/>
            <a:ext cx="341985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Parmi les individus réellement à risque,
combien sont détectés ?
→ capacité à ne pas rater un cas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950976"/>
            <a:ext cx="3840480" cy="13258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950976"/>
            <a:ext cx="50800" cy="13258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005840"/>
            <a:ext cx="3602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F1 = 2 × Prec × Rappel
      /(Prec + Rappel)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1371600"/>
            <a:ext cx="36027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Moyenne harmonique Précision / Rappel
→ métrique équilibrée sur données déséquilibrées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414016"/>
            <a:ext cx="11567160" cy="8046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50800" cy="80467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2468880"/>
            <a:ext cx="11329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AUC-ROC = ∫₀¹ TPR(FPR) dFPR     (aire sous la courbe ROC)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2834640"/>
            <a:ext cx="11329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AUC=1 : discrimination parfaite  |  AUC=0.5 : équivalent à un tirage aléatoire  |  AUC&lt;0.5 : pire que le hasard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374136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05050"/>
                </a:solidFill>
              </a:rPr>
              <a:t>TP = vrais positifs  |  FP = faux positifs  |  FN = faux négatifs  |  TN = vrais négatifs  |  TPR = TP/(TP+FN)  |  FPR = FP/(FP+TN)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694176"/>
          <a:ext cx="1152144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234440"/>
                <a:gridCol w="1234440"/>
                <a:gridCol w="1554480"/>
                <a:gridCol w="1234440"/>
                <a:gridCol w="5120640"/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Métrique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Naïf (tout=0)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Log. Regr.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Interprétation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0.498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Trompeuse sur déséquilibre 75/25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Précision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0.249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0.245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0.246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≈ 25% → prédit bien la minorité ?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Rappel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0.441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LR détecte ~50% des cas à risque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0.335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0.290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0.316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Métrique équilibrée → faible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AUC-ROC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0.499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≈ 0.5 = tirage aléatoire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320040" y="5020056"/>
            <a:ext cx="11548872" cy="347472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056632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Interprétation des résultats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367528"/>
            <a:ext cx="11548872" cy="5212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5413248"/>
            <a:ext cx="1132941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–  Modèle naïf 'tout à 0' : accuracy = 75.2% sans apprendre → accuracy seule trompeuse  (Sokolova &amp; Lapalme, 2009)</a:t>
            </a:r>
          </a:p>
          <a:p>
            <a:r>
              <a:rPr sz="1300">
                <a:solidFill>
                  <a:srgbClr val="000000"/>
                </a:solidFill>
              </a:rPr>
              <a:t>–  AUC ≈ 0.5 pour tous = aucun pouvoir discriminant — équivalent tirage aléatoire</a:t>
            </a:r>
          </a:p>
          <a:p>
            <a:r>
              <a:rPr sz="1300">
                <a:solidFill>
                  <a:srgbClr val="000000"/>
                </a:solidFill>
              </a:rPr>
              <a:t>–  Cause : disease_risk généré sans dépendance aux autres variables dans le dataset synthétique</a:t>
            </a:r>
          </a:p>
        </p:txBody>
      </p:sp>
      <p:pic>
        <p:nvPicPr>
          <p:cNvPr id="28" name="Picture 27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071616"/>
            <a:ext cx="5486400" cy="4702629"/>
          </a:xfrm>
          <a:prstGeom prst="rect">
            <a:avLst/>
          </a:prstGeom>
        </p:spPr>
      </p:pic>
      <p:pic>
        <p:nvPicPr>
          <p:cNvPr id="29" name="Picture 28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6071616"/>
            <a:ext cx="5852160" cy="15605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D — Gestion du déséquilibre : class_weight &amp; SMOTE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50976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Déséquilibre : 75.2% sans risque (classe 0)  vs  24.8% à risque (classe 1)  →  deux stratégies comparées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62456"/>
            <a:ext cx="5394960" cy="256032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Stratégie 1 — class_weight='balanced'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46504"/>
            <a:ext cx="5394960" cy="8046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746504"/>
            <a:ext cx="50800" cy="80467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801368"/>
            <a:ext cx="5157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wₖ = n / (K × nₖ)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67128"/>
            <a:ext cx="5157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n = total observations  |  K = nb de classes  |  nₖ = taille de la classe k
→ classe minoritaire (risk=1) reçoit un poids 3x plus élevé pendant l'entraînement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688336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</a:rPr>
              <a:t>–  Modifie la FONCTION DE PERTE, pas les données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Pénalise davantage les erreurs sur la classe minoritaire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Pas de surapprentissage additionnel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Rappel monte mais précision baisse → trade-off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362456"/>
            <a:ext cx="5897880" cy="256032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8988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Stratégie 2 — SMOTE  (Chawla et al., 2002)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746504"/>
            <a:ext cx="5897880" cy="8046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746504"/>
            <a:ext cx="50800" cy="80467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1801368"/>
            <a:ext cx="5660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x_new = xᵢ + λ × (x_nn − xᵢ)   avec λ ∈ [0, 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2167128"/>
            <a:ext cx="5660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xᵢ : exemple minoritaire  |  x_nn : k-plus proche voisin dans la même classe
→ création synthétique de nouveaux exemples par interpolation linéaire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688336"/>
            <a:ext cx="5897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</a:rPr>
              <a:t>–  Modifie les DONNÉES (sur-échantillonnage)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Crée de vrais nouveaux exemples — pas de simples doublons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Appliqué sur le jeu d'entraînement SEULEMENT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Peut générer du bruit si classes mal séparées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4425696"/>
          <a:ext cx="117957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  <a:gridCol w="1097280"/>
                <a:gridCol w="822960"/>
                <a:gridCol w="822960"/>
                <a:gridCol w="5760720"/>
              </a:tblGrid>
              <a:tr h="24003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Stratégie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Rappel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Précision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Conclusion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Sans correction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class_weight balanced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0.680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0.205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0.315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0.492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Rappel↑ mais précision↓↓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SMOTE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0.307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0.498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Résultat similaire à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320040" y="5568696"/>
            <a:ext cx="11548872" cy="347472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605272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Conclusion — déséquilibre vs absence de signal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916168"/>
            <a:ext cx="11548872" cy="56692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5961888"/>
            <a:ext cx="113294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–  Les deux stratégies confirment : AUC ≈ 0.5 indépendamment de la gestion du déséquilibre</a:t>
            </a:r>
          </a:p>
          <a:p>
            <a:r>
              <a:rPr sz="1300">
                <a:solidFill>
                  <a:srgbClr val="000000"/>
                </a:solidFill>
              </a:rPr>
              <a:t>–  Le problème N'EST PAS le déséquilibre des classes — c'est l'absence totale de signal prédictif</a:t>
            </a:r>
          </a:p>
          <a:p>
            <a:r>
              <a:rPr sz="1300">
                <a:solidFill>
                  <a:srgbClr val="000000"/>
                </a:solidFill>
              </a:rPr>
              <a:t>–  Ni class_weight ni SMOTE ne peuvent créer un signal qui n'existe pas dans les données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2651760"/>
            <a:ext cx="4206240" cy="146304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27889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66CC"/>
                </a:solidFill>
              </a:rP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32918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68C"/>
                </a:solidFill>
              </a:rPr>
              <a:t>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E — K-Means : algorithme &amp; formules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50976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8C"/>
                </a:solidFill>
              </a:rPr>
              <a:t>K-Means — Principe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Algorithme de partitionnement (MacQueen, 1967)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Minimise l'inertie intra-cluster (dispersion totale)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Deux étapes alternées jusqu'à convergence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100 000 individus — O(n) rapide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459736"/>
            <a:ext cx="5394960" cy="9144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459736"/>
            <a:ext cx="508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2514600"/>
            <a:ext cx="5157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Distance euclidienne : d(x, y) = √[ Σⱼ (xⱼ − yⱼ)²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880360"/>
            <a:ext cx="5157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p = nombre de variables (ici p=15). Sans standardisation, daily_steps
dominerait sleep_hours → normalisation z-score obligatoire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511296"/>
            <a:ext cx="5394960" cy="9144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511296"/>
            <a:ext cx="508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3566160"/>
            <a:ext cx="5157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Affectation : cluster(xᵢ) = argmin_j  ||xᵢ − μⱼ||²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931920"/>
            <a:ext cx="5157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Chaque individu est affecté au centroïde le plus proche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562856"/>
            <a:ext cx="5394960" cy="9144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562856"/>
            <a:ext cx="508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4617720"/>
            <a:ext cx="5157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Mise à jour : μⱼ = (1/|Cⱼ|) × Σ_{x∈Cⱼ} 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983480"/>
            <a:ext cx="5157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Centroïde = vecteur des moyennes de toutes les variables dans le cluster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614416"/>
            <a:ext cx="5394960" cy="9601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5614416"/>
            <a:ext cx="50800" cy="9601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5669280"/>
            <a:ext cx="5157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Objectif : W(k) = Σⱼ Σ_{x∈Cⱼ} ||x − μⱼ||²   (inertie intra-cluster)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6035040"/>
            <a:ext cx="515721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Converge vers un minimum local — 10 initialisations aléatoires (n_init=10)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943600" y="950976"/>
          <a:ext cx="58521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05840"/>
                <a:gridCol w="1417320"/>
                <a:gridCol w="1417320"/>
                <a:gridCol w="118872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Cluster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Taille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IMC moyen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Systolique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Profil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32 754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35.0 (obèse)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142 mmHg (HTA)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Obèse hypertendu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27 673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29.1 (surpoids)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115 mmHg (OK)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Surpoids normotendu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39 573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24.0 (normal)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142 mmHg (HTA)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Normal hypertendu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43600" y="2642616"/>
            <a:ext cx="5897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05050"/>
                </a:solidFill>
              </a:rPr>
              <a:t>Partition dominée par IMC (σ=6.3) et systolic_bp (σ=26.0) → variables à plus grande variance</a:t>
            </a:r>
          </a:p>
        </p:txBody>
      </p:sp>
      <p:pic>
        <p:nvPicPr>
          <p:cNvPr id="25" name="Picture 24" descr="kmeans_selection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008376"/>
            <a:ext cx="2743200" cy="914400"/>
          </a:xfrm>
          <a:prstGeom prst="rect">
            <a:avLst/>
          </a:prstGeom>
        </p:spPr>
      </p:pic>
      <p:pic>
        <p:nvPicPr>
          <p:cNvPr id="26" name="Picture 25" descr="kmeans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3008376"/>
            <a:ext cx="3017520" cy="22631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43600" y="6382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6464"/>
                </a:solidFill>
              </a:rPr>
              <a:t>Inertie &amp; silhouette vs k  →  k=3 optimal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6382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6464"/>
                </a:solidFill>
              </a:rPr>
              <a:t>Clusters K-Means — ACP 2D (24.3%)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E — Sélection de k : inertie &amp; coefficient de silhouette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50976"/>
            <a:ext cx="5577840" cy="8046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50976"/>
            <a:ext cx="50800" cy="80467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005840"/>
            <a:ext cx="5340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Inertie : W(k) = Σ_{j=1}^{k} Σ_{x∈Cⱼ} ||x − μⱼ||²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371600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Décroît quand k augmente — on cherche le 'coude' où le gain devient marginal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950976"/>
            <a:ext cx="5897880" cy="8046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950976"/>
            <a:ext cx="50800" cy="80467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1005840"/>
            <a:ext cx="5660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Silhouette : s(i) = (b(i) − a(i)) / max(a(i), b(i))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1371600"/>
            <a:ext cx="5660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a(i) = distance moy. aux membres de son cluster  |  b(i) = distance moy. au cluster voisin le + proche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1911096"/>
          <a:ext cx="5166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645920"/>
                <a:gridCol w="128016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Inertie W(k)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Silhouette s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Interprétation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1 346 768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0.0979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Acceptable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1 238 076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0.1030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★ Meilleur — retenu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1 188 303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0.0967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Silhouette baisse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1 152 260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0.0886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Gain inertie faible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1 031 548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0.0744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Déclin clair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24281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8C"/>
                </a:solidFill>
              </a:rPr>
              <a:t>k=3 maximise la silhouette (0.1030) ET correspond au coude de l'inertie  →  k=3 retenu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837175"/>
            <a:ext cx="5212080" cy="347472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87375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Interprétation de la silhouette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184647"/>
            <a:ext cx="5212080" cy="148132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5230367"/>
            <a:ext cx="4992624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–  s ≈ 1 : individu bien assigné — loin des autres clusters</a:t>
            </a:r>
          </a:p>
          <a:p>
            <a:r>
              <a:rPr sz="1300">
                <a:solidFill>
                  <a:srgbClr val="000000"/>
                </a:solidFill>
              </a:rPr>
              <a:t>–  s ≈ 0 : individu en frontière entre deux clusters</a:t>
            </a:r>
          </a:p>
          <a:p>
            <a:r>
              <a:rPr sz="1300">
                <a:solidFill>
                  <a:srgbClr val="000000"/>
                </a:solidFill>
              </a:rPr>
              <a:t>–  s &lt; 0 : individu probablement mal assigné</a:t>
            </a:r>
          </a:p>
          <a:p>
            <a:r>
              <a:rPr sz="1300">
                <a:solidFill>
                  <a:srgbClr val="000000"/>
                </a:solidFill>
              </a:rPr>
              <a:t>–  Seuils : &gt;0.7 excellent · 0.5–0.7 bon · &lt;0.5 faible</a:t>
            </a:r>
          </a:p>
          <a:p>
            <a:r>
              <a:rPr sz="1300">
                <a:solidFill>
                  <a:srgbClr val="000000"/>
                </a:solidFill>
              </a:rPr>
              <a:t>–  Ici 0.103 : faible — attendu sur données sans structure causale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911096"/>
            <a:ext cx="5897880" cy="100584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911096"/>
            <a:ext cx="50800" cy="10058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1965960"/>
            <a:ext cx="5660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Davies-Bouldin = (1/k) × Σⱼ max_{i≠j} [(σᵢ + σⱼ) / d(μᵢ, μⱼ)]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2331720"/>
            <a:ext cx="5660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σⱼ = dispersion intra-cluster j  |  d(μᵢ,μⱼ) = distance entre centroïdes
Plus petit est meilleur (vise 0). Ici DB ≈ 2.66 pour K-Means.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989320" y="3099816"/>
          <a:ext cx="585216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280160"/>
                <a:gridCol w="1554480"/>
                <a:gridCol w="109728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Méthode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Silhouette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Davies-Bouldin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n individus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K-Means (k=3)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2.655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100 000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CAH Ward (k=3)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0.105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2.721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5 000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989320" y="4379976"/>
            <a:ext cx="5897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05050"/>
                </a:solidFill>
              </a:rPr>
              <a:t>CAH légèrement meilleure en silhouette (0.105 &gt; 0.103) mais sous-échantillon 5000 individus → K-Means privilégié sur données complètes</a:t>
            </a:r>
          </a:p>
        </p:txBody>
      </p:sp>
      <p:pic>
        <p:nvPicPr>
          <p:cNvPr id="26" name="Picture 25" descr="kmean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4882896"/>
            <a:ext cx="5897880" cy="442341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9320" y="6492240"/>
            <a:ext cx="5897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6464"/>
                </a:solidFill>
              </a:rPr>
              <a:t>Projection ACP — variance expliquée : 24.3% (2 composantes sur 15 dimensions quasi-indépendantes)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E — CAH : Classification Hiérarchique Ascendante (liaison Ward)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50976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8C"/>
                </a:solidFill>
              </a:rPr>
              <a:t>CAH — Principe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Principe : chaque individu commence dans son propre cluster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À chaque étape : fusion des 2 clusters dont la fusion est la moins coûteuse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Produit un dendrogramme — arbre de fusion lisible visuellement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Complexité O(n²) → appliqué sur 5 000 individus (sous-échantillon)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459736"/>
            <a:ext cx="5394960" cy="10972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459736"/>
            <a:ext cx="508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2514600"/>
            <a:ext cx="5157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468C"/>
                </a:solidFill>
              </a:rPr>
              <a:t>Coût Ward : Δ(A,B) = (|A|×|B|)/(|A|+|B|) × ||μ_A − μ_B||²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880360"/>
            <a:ext cx="515721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64646"/>
                </a:solidFill>
              </a:rPr>
              <a:t>|A|, |B| = tailles des clusters  |  μ_A, μ_B = centroïdes
Minimise l'augmentation de variance intra-cluster à chaque fusion.
→ clusters compacts et de tailles équilibrées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39896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68C"/>
                </a:solidFill>
              </a:rPr>
              <a:t>Comparaison des méthodes de liaison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Single linkage : distance entre points les plus proches → clusters en chaîne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Complete linkage : distance entre points les plus éloignés → clusters sphériques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Average linkage : distance moyenne → compromis</a:t>
            </a:r>
          </a:p>
          <a:p>
            <a:pPr algn="l"/>
            <a:r>
              <a:rPr sz="1300">
                <a:solidFill>
                  <a:srgbClr val="000000"/>
                </a:solidFill>
              </a:rPr>
              <a:t>–  Ward : minimise la variance → le plus adapté aux données continues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294376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822960"/>
                <a:gridCol w="1005840"/>
                <a:gridCol w="123444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Cluster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Taille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% Fumeurs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Systolique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Profil CAH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2 928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142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Non-fumeurs hypertendus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1 407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18%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115 mmHg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Fumeurs modérés, normotendus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142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Fumeurs intenses, hypertendus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89457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05050"/>
                </a:solidFill>
              </a:rPr>
              <a:t>CAH isole les fumeurs intenses (100%) — groupe dilué par K-Means → méthodes complémentaires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950976"/>
            <a:ext cx="5897880" cy="347472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987552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SHAP — formule complète  (Lundberg &amp; Lee, 2017)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298448"/>
            <a:ext cx="5897880" cy="20299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1344168"/>
            <a:ext cx="567842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–  Valeur de Shapley pour la variable j :</a:t>
            </a:r>
          </a:p>
          <a:p>
            <a:r>
              <a:rPr sz="1300">
                <a:solidFill>
                  <a:srgbClr val="000000"/>
                </a:solidFill>
              </a:rPr>
              <a:t>–  φⱼ = Σ_{S⊆F\{j}} [|S|!(|F|−|S|−1)! / |F|!] × [f(S∪{j}) − f(S)]</a:t>
            </a:r>
          </a:p>
          <a:p>
            <a:r>
              <a:rPr sz="1300">
                <a:solidFill>
                  <a:srgbClr val="000000"/>
                </a:solidFill>
              </a:rPr>
              <a:t>–  F = ensemble des variables  |  S = sous-ensemble sans j</a:t>
            </a:r>
          </a:p>
          <a:p>
            <a:r>
              <a:rPr sz="1300">
                <a:solidFill>
                  <a:srgbClr val="000000"/>
                </a:solidFill>
              </a:rPr>
              <a:t>–  f(S) = prédiction du modèle avec les variables de S seulement</a:t>
            </a:r>
          </a:p>
          <a:p>
            <a:r>
              <a:rPr sz="1300">
                <a:solidFill>
                  <a:srgbClr val="000000"/>
                </a:solidFill>
              </a:rPr>
              <a:t>–  Somme sur toutes les coalitions possibles de variables</a:t>
            </a:r>
          </a:p>
          <a:p>
            <a:r>
              <a:rPr sz="1300">
                <a:solidFill>
                  <a:srgbClr val="000000"/>
                </a:solidFill>
              </a:rPr>
              <a:t>–  Propriété : φⱼ &gt; 0 → variable pousse vers le risque ; φⱼ &lt; 0 → vers le non-risque</a:t>
            </a:r>
          </a:p>
        </p:txBody>
      </p:sp>
      <p:pic>
        <p:nvPicPr>
          <p:cNvPr id="18" name="Picture 17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419856"/>
            <a:ext cx="5897880" cy="59591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6446520"/>
            <a:ext cx="5897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6464"/>
                </a:solidFill>
              </a:rPr>
              <a:t>SHAP summary plot — XGBoost  (divergence avec feature importance Gini = résultat analytique sur données sans signal)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